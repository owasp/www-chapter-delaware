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16"/>
  </p:notesMasterIdLst>
  <p:sldIdLst>
    <p:sldId id="256" r:id="rId2"/>
    <p:sldId id="257" r:id="rId3"/>
    <p:sldId id="264" r:id="rId4"/>
    <p:sldId id="267" r:id="rId5"/>
    <p:sldId id="268" r:id="rId6"/>
    <p:sldId id="272" r:id="rId7"/>
    <p:sldId id="265" r:id="rId8"/>
    <p:sldId id="269" r:id="rId9"/>
    <p:sldId id="274" r:id="rId10"/>
    <p:sldId id="271" r:id="rId11"/>
    <p:sldId id="258" r:id="rId12"/>
    <p:sldId id="270" r:id="rId13"/>
    <p:sldId id="273" r:id="rId14"/>
    <p:sldId id="260" r:id="rId15"/>
  </p:sldIdLst>
  <p:sldSz cx="12192000" cy="6858000"/>
  <p:notesSz cx="6858000" cy="9144000"/>
  <p:embeddedFontLst>
    <p:embeddedFont>
      <p:font typeface="Barlow" panose="00000500000000000000" pitchFamily="2" charset="0"/>
      <p:regular r:id="rId17"/>
      <p:bold r:id="rId18"/>
      <p:italic r:id="rId19"/>
      <p:boldItalic r:id="rId20"/>
    </p:embeddedFont>
    <p:embeddedFont>
      <p:font typeface="Poppins" panose="00000500000000000000" pitchFamily="2" charset="0"/>
      <p:regular r:id="rId21"/>
      <p:bold r:id="rId22"/>
      <p:italic r:id="rId23"/>
      <p:boldItalic r:id="rId24"/>
    </p:embeddedFont>
    <p:embeddedFont>
      <p:font typeface="Poppins Medium" panose="00000600000000000000" pitchFamily="2" charset="0"/>
      <p:regular r:id="rId25"/>
      <p:italic r:id="rId26"/>
    </p:embeddedFont>
    <p:embeddedFont>
      <p:font typeface="Roboto" panose="02000000000000000000" pitchFamily="2" charset="0"/>
      <p:regular r:id="rId27"/>
      <p:bold r:id="rId28"/>
      <p:italic r:id="rId29"/>
      <p:boldItalic r:id="rId30"/>
    </p:embeddedFont>
  </p:embeddedFont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5pPr>
    <a:lvl6pPr marL="22860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6pPr>
    <a:lvl7pPr marL="27432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7pPr>
    <a:lvl8pPr marL="32004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8pPr>
    <a:lvl9pPr marL="36576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0289314E-74B5-4DD9-92A8-5DDD35FEED74}">
          <p14:sldIdLst>
            <p14:sldId id="256"/>
            <p14:sldId id="257"/>
          </p14:sldIdLst>
        </p14:section>
        <p14:section name="OWASP" id="{C0FC735D-4604-44F5-9BDE-9CD51CDBAD41}">
          <p14:sldIdLst>
            <p14:sldId id="264"/>
          </p14:sldIdLst>
        </p14:section>
        <p14:section name="OWASP DE" id="{21F6429C-3F8D-4C99-826F-0E5510492F20}">
          <p14:sldIdLst>
            <p14:sldId id="267"/>
            <p14:sldId id="268"/>
            <p14:sldId id="272"/>
            <p14:sldId id="265"/>
          </p14:sldIdLst>
        </p14:section>
        <p14:section name="Main Event" id="{3233B1D5-D866-443D-BD5E-7431D2D78691}">
          <p14:sldIdLst>
            <p14:sldId id="269"/>
          </p14:sldIdLst>
        </p14:section>
        <p14:section name="Speaker Award" id="{436BA822-03F1-4C3B-A9A2-6EFB9FA59E37}">
          <p14:sldIdLst>
            <p14:sldId id="274"/>
          </p14:sldIdLst>
        </p14:section>
        <p14:section name="mini CTF" id="{2B4EEC3A-CA59-487E-A73D-04DCE1F3268B}">
          <p14:sldIdLst>
            <p14:sldId id="271"/>
            <p14:sldId id="258"/>
          </p14:sldIdLst>
        </p14:section>
        <p14:section name="Close" id="{6AED9B28-0CA2-41B9-BCD2-498D8A3F3B3A}">
          <p14:sldIdLst>
            <p14:sldId id="270"/>
            <p14:sldId id="273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>
        <p:scale>
          <a:sx n="75" d="100"/>
          <a:sy n="75" d="100"/>
        </p:scale>
        <p:origin x="22" y="2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Google Shape;3;n">
            <a:extLst>
              <a:ext uri="{FF2B5EF4-FFF2-40B4-BE49-F238E27FC236}">
                <a16:creationId xmlns:a16="http://schemas.microsoft.com/office/drawing/2014/main" id="{18017FF9-5732-8F30-D111-EC28D57F4E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custGeom>
            <a:avLst/>
            <a:gdLst>
              <a:gd name="T0" fmla="*/ 0 w 120000"/>
              <a:gd name="T1" fmla="*/ 0 h 120000"/>
              <a:gd name="T2" fmla="*/ 4572000 w 120000"/>
              <a:gd name="T3" fmla="*/ 0 h 120000"/>
              <a:gd name="T4" fmla="*/ 4572000 w 120000"/>
              <a:gd name="T5" fmla="*/ 3429000 h 120000"/>
              <a:gd name="T6" fmla="*/ 0 w 120000"/>
              <a:gd name="T7" fmla="*/ 3429000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Google Shape;4;n">
            <a:extLst>
              <a:ext uri="{FF2B5EF4-FFF2-40B4-BE49-F238E27FC236}">
                <a16:creationId xmlns:a16="http://schemas.microsoft.com/office/drawing/2014/main" id="{EAE40243-A29D-20F8-8B7F-FE9D292C8A86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457200" indent="-2984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1pPr>
    <a:lvl2pPr marL="914400" lvl="1" indent="-2984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2pPr>
    <a:lvl3pPr marL="1371600" lvl="2" indent="-2984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3pPr>
    <a:lvl4pPr marL="1828800" lvl="3" indent="-2984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4pPr>
    <a:lvl5pPr marL="2286000" lvl="4" indent="-2984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Google Shape;81;g9d2ff71b8c_0_0:notes">
            <a:extLst>
              <a:ext uri="{FF2B5EF4-FFF2-40B4-BE49-F238E27FC236}">
                <a16:creationId xmlns:a16="http://schemas.microsoft.com/office/drawing/2014/main" id="{3FA234C5-A6C0-0A3B-7CB5-4C516200504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>
              <a:gd name="T0" fmla="*/ 0 w 120000"/>
              <a:gd name="T1" fmla="*/ 0 h 120000"/>
              <a:gd name="T2" fmla="*/ 6096000 w 120000"/>
              <a:gd name="T3" fmla="*/ 0 h 120000"/>
              <a:gd name="T4" fmla="*/ 6096000 w 120000"/>
              <a:gd name="T5" fmla="*/ 3429000 h 120000"/>
              <a:gd name="T6" fmla="*/ 0 w 120000"/>
              <a:gd name="T7" fmla="*/ 3429000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headEnd/>
            <a:tailEnd/>
          </a:ln>
        </p:spPr>
      </p:sp>
      <p:sp>
        <p:nvSpPr>
          <p:cNvPr id="13315" name="Google Shape;82;g9d2ff71b8c_0_0:notes">
            <a:extLst>
              <a:ext uri="{FF2B5EF4-FFF2-40B4-BE49-F238E27FC236}">
                <a16:creationId xmlns:a16="http://schemas.microsoft.com/office/drawing/2014/main" id="{A56441E6-F0B0-E810-2576-6FF764BBC809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Google Shape;87;g1f2314f3064_0_15:notes">
            <a:extLst>
              <a:ext uri="{FF2B5EF4-FFF2-40B4-BE49-F238E27FC236}">
                <a16:creationId xmlns:a16="http://schemas.microsoft.com/office/drawing/2014/main" id="{6DC96D25-DCC2-BFF5-7015-CA16786CF713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>
              <a:gd name="T0" fmla="*/ 0 w 120000"/>
              <a:gd name="T1" fmla="*/ 0 h 120000"/>
              <a:gd name="T2" fmla="*/ 6096000 w 120000"/>
              <a:gd name="T3" fmla="*/ 0 h 120000"/>
              <a:gd name="T4" fmla="*/ 6096000 w 120000"/>
              <a:gd name="T5" fmla="*/ 3429000 h 120000"/>
              <a:gd name="T6" fmla="*/ 0 w 120000"/>
              <a:gd name="T7" fmla="*/ 3429000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headEnd/>
            <a:tailEnd/>
          </a:ln>
        </p:spPr>
      </p:sp>
      <p:sp>
        <p:nvSpPr>
          <p:cNvPr id="15363" name="Google Shape;88;g1f2314f3064_0_15:notes">
            <a:extLst>
              <a:ext uri="{FF2B5EF4-FFF2-40B4-BE49-F238E27FC236}">
                <a16:creationId xmlns:a16="http://schemas.microsoft.com/office/drawing/2014/main" id="{2D563082-0F77-3FB7-78FF-96FEB79C3A0F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r>
              <a:rPr lang="en-US" altLang="en-US" sz="1100">
                <a:latin typeface="Arial" panose="020B0604020202020204" pitchFamily="34" charset="0"/>
                <a:cs typeface="Arial" panose="020B0604020202020204" pitchFamily="34" charset="0"/>
              </a:rPr>
              <a:t>Delete this slide if you don’t like Agenda slides, otherwise, just the highlights. 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874DFFB-E01E-959A-2DD0-A4B695F67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Google Shape;81;g9d2ff71b8c_0_0:notes">
            <a:extLst>
              <a:ext uri="{FF2B5EF4-FFF2-40B4-BE49-F238E27FC236}">
                <a16:creationId xmlns:a16="http://schemas.microsoft.com/office/drawing/2014/main" id="{225D868C-680F-4D52-B792-09FBD035A61F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>
              <a:gd name="T0" fmla="*/ 0 w 120000"/>
              <a:gd name="T1" fmla="*/ 0 h 120000"/>
              <a:gd name="T2" fmla="*/ 6096000 w 120000"/>
              <a:gd name="T3" fmla="*/ 0 h 120000"/>
              <a:gd name="T4" fmla="*/ 6096000 w 120000"/>
              <a:gd name="T5" fmla="*/ 3429000 h 120000"/>
              <a:gd name="T6" fmla="*/ 0 w 120000"/>
              <a:gd name="T7" fmla="*/ 3429000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headEnd/>
            <a:tailEnd/>
          </a:ln>
        </p:spPr>
      </p:sp>
      <p:sp>
        <p:nvSpPr>
          <p:cNvPr id="13315" name="Google Shape;82;g9d2ff71b8c_0_0:notes">
            <a:extLst>
              <a:ext uri="{FF2B5EF4-FFF2-40B4-BE49-F238E27FC236}">
                <a16:creationId xmlns:a16="http://schemas.microsoft.com/office/drawing/2014/main" id="{2F8178CB-58F0-6484-FEF0-14F946FE336E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371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Google Shape;93;g1f2314f3064_0_10:notes">
            <a:extLst>
              <a:ext uri="{FF2B5EF4-FFF2-40B4-BE49-F238E27FC236}">
                <a16:creationId xmlns:a16="http://schemas.microsoft.com/office/drawing/2014/main" id="{F0257060-626E-5681-6853-5BBFEE9C2F48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>
              <a:gd name="T0" fmla="*/ 0 w 120000"/>
              <a:gd name="T1" fmla="*/ 0 h 120000"/>
              <a:gd name="T2" fmla="*/ 6096000 w 120000"/>
              <a:gd name="T3" fmla="*/ 0 h 120000"/>
              <a:gd name="T4" fmla="*/ 6096000 w 120000"/>
              <a:gd name="T5" fmla="*/ 3429000 h 120000"/>
              <a:gd name="T6" fmla="*/ 0 w 120000"/>
              <a:gd name="T7" fmla="*/ 3429000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headEnd/>
            <a:tailEnd/>
          </a:ln>
        </p:spPr>
      </p:sp>
      <p:sp>
        <p:nvSpPr>
          <p:cNvPr id="17411" name="Google Shape;94;g1f2314f3064_0_10:notes">
            <a:extLst>
              <a:ext uri="{FF2B5EF4-FFF2-40B4-BE49-F238E27FC236}">
                <a16:creationId xmlns:a16="http://schemas.microsoft.com/office/drawing/2014/main" id="{B18346E0-BE02-487B-6E3D-D566B867F77A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r>
              <a:rPr lang="en-US" altLang="en-US" sz="1100">
                <a:latin typeface="Arial" panose="020B0604020202020204" pitchFamily="34" charset="0"/>
                <a:cs typeface="Arial" panose="020B0604020202020204" pitchFamily="34" charset="0"/>
              </a:rPr>
              <a:t>Please choose an upcoming AppSec Global, and any local regional or chapter events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3861239-E31F-A9D2-D5EF-134343864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Google Shape;99;g1f2314f3064_0_0:notes">
            <a:extLst>
              <a:ext uri="{FF2B5EF4-FFF2-40B4-BE49-F238E27FC236}">
                <a16:creationId xmlns:a16="http://schemas.microsoft.com/office/drawing/2014/main" id="{4A6EA65E-2D28-2EBD-B017-8B22F58CD4E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>
              <a:gd name="T0" fmla="*/ 0 w 120000"/>
              <a:gd name="T1" fmla="*/ 0 h 120000"/>
              <a:gd name="T2" fmla="*/ 6096000 w 120000"/>
              <a:gd name="T3" fmla="*/ 0 h 120000"/>
              <a:gd name="T4" fmla="*/ 6096000 w 120000"/>
              <a:gd name="T5" fmla="*/ 3429000 h 120000"/>
              <a:gd name="T6" fmla="*/ 0 w 120000"/>
              <a:gd name="T7" fmla="*/ 3429000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</p:sp>
      <p:sp>
        <p:nvSpPr>
          <p:cNvPr id="21507" name="Google Shape;100;g1f2314f3064_0_0:notes">
            <a:extLst>
              <a:ext uri="{FF2B5EF4-FFF2-40B4-BE49-F238E27FC236}">
                <a16:creationId xmlns:a16="http://schemas.microsoft.com/office/drawing/2014/main" id="{9BDBCA6D-F12B-85BD-2E75-415DA995237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r>
              <a:rPr lang="en-US" altLang="en-US" sz="1100">
                <a:latin typeface="Arial" panose="020B0604020202020204" pitchFamily="34" charset="0"/>
                <a:cs typeface="Arial" panose="020B0604020202020204" pitchFamily="34" charset="0"/>
              </a:rPr>
              <a:t>Place the logo and their support level in this slide. It should be the only place in which it appears in a presentation</a:t>
            </a:r>
          </a:p>
        </p:txBody>
      </p:sp>
    </p:spTree>
    <p:extLst>
      <p:ext uri="{BB962C8B-B14F-4D97-AF65-F5344CB8AC3E}">
        <p14:creationId xmlns:p14="http://schemas.microsoft.com/office/powerpoint/2010/main" val="14613463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Google Shape;105;g1f2314f3064_0_5:notes">
            <a:extLst>
              <a:ext uri="{FF2B5EF4-FFF2-40B4-BE49-F238E27FC236}">
                <a16:creationId xmlns:a16="http://schemas.microsoft.com/office/drawing/2014/main" id="{C7FC2215-7A99-DF59-AAD7-82A1DDC558F0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>
              <a:gd name="T0" fmla="*/ 0 w 120000"/>
              <a:gd name="T1" fmla="*/ 0 h 120000"/>
              <a:gd name="T2" fmla="*/ 6096000 w 120000"/>
              <a:gd name="T3" fmla="*/ 0 h 120000"/>
              <a:gd name="T4" fmla="*/ 6096000 w 120000"/>
              <a:gd name="T5" fmla="*/ 3429000 h 120000"/>
              <a:gd name="T6" fmla="*/ 0 w 120000"/>
              <a:gd name="T7" fmla="*/ 3429000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headEnd/>
            <a:tailEnd/>
          </a:ln>
        </p:spPr>
      </p:sp>
      <p:sp>
        <p:nvSpPr>
          <p:cNvPr id="22531" name="Google Shape;106;g1f2314f3064_0_5:notes">
            <a:extLst>
              <a:ext uri="{FF2B5EF4-FFF2-40B4-BE49-F238E27FC236}">
                <a16:creationId xmlns:a16="http://schemas.microsoft.com/office/drawing/2014/main" id="{A89206DA-7D93-5545-E341-AE0B53D56855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;p2">
            <a:extLst>
              <a:ext uri="{FF2B5EF4-FFF2-40B4-BE49-F238E27FC236}">
                <a16:creationId xmlns:a16="http://schemas.microsoft.com/office/drawing/2014/main" id="{BF800CB5-A2EB-C712-8AD4-025A92D63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653088"/>
            <a:ext cx="12192000" cy="1228725"/>
          </a:xfrm>
          <a:prstGeom prst="rect">
            <a:avLst/>
          </a:prstGeom>
          <a:solidFill>
            <a:srgbClr val="1D7BD7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 sz="1800">
              <a:solidFill>
                <a:srgbClr val="FFFFFF"/>
              </a:solidFill>
              <a:latin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3" name="Google Shape;13;p2">
            <a:extLst>
              <a:ext uri="{FF2B5EF4-FFF2-40B4-BE49-F238E27FC236}">
                <a16:creationId xmlns:a16="http://schemas.microsoft.com/office/drawing/2014/main" id="{67644952-513C-0671-A42A-F6561963AB85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3" y="6015038"/>
            <a:ext cx="1649412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Google Shape;14;p2">
            <a:extLst>
              <a:ext uri="{FF2B5EF4-FFF2-40B4-BE49-F238E27FC236}">
                <a16:creationId xmlns:a16="http://schemas.microsoft.com/office/drawing/2014/main" id="{4596FC0C-314C-42DE-4C0B-EC9AB4D07A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8938" y="6037263"/>
            <a:ext cx="3895725" cy="46196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2400" b="1">
                <a:solidFill>
                  <a:srgbClr val="FFFFFF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OWASP FOUNDATION</a:t>
            </a:r>
            <a:endParaRPr lang="en-US" altLang="en-US"/>
          </a:p>
        </p:txBody>
      </p:sp>
      <p:sp>
        <p:nvSpPr>
          <p:cNvPr id="5" name="Google Shape;15;p2">
            <a:extLst>
              <a:ext uri="{FF2B5EF4-FFF2-40B4-BE49-F238E27FC236}">
                <a16:creationId xmlns:a16="http://schemas.microsoft.com/office/drawing/2014/main" id="{9ACEFE8B-3852-1205-906E-CBAF2490A844}"/>
              </a:ext>
            </a:extLst>
          </p:cNvPr>
          <p:cNvSpPr txBox="1"/>
          <p:nvPr/>
        </p:nvSpPr>
        <p:spPr>
          <a:xfrm>
            <a:off x="1997075" y="5938838"/>
            <a:ext cx="966788" cy="620712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/>
          <a:lstStyle/>
          <a:p>
            <a:pPr eaLnBrk="1" fontAlgn="auto" hangingPunct="1">
              <a:lnSpc>
                <a:spcPct val="123076"/>
              </a:lnSpc>
              <a:spcBef>
                <a:spcPts val="2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1200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®</a:t>
            </a:r>
            <a:endParaRPr sz="1950" kern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eaLnBrk="1" fontAlgn="auto" hangingPunct="1"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ern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984142" y="788961"/>
            <a:ext cx="10223715" cy="2281238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 Medium"/>
              <a:buNone/>
              <a:defRPr sz="6000" b="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84142" y="3429000"/>
            <a:ext cx="10223715" cy="1362075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400"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184251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20;p3">
            <a:extLst>
              <a:ext uri="{FF2B5EF4-FFF2-40B4-BE49-F238E27FC236}">
                <a16:creationId xmlns:a16="http://schemas.microsoft.com/office/drawing/2014/main" id="{C9C63E5E-B657-77EE-3198-2CE3B610BB1B}"/>
              </a:ext>
            </a:extLst>
          </p:cNvPr>
          <p:cNvGrpSpPr>
            <a:grpSpLocks/>
          </p:cNvGrpSpPr>
          <p:nvPr/>
        </p:nvGrpSpPr>
        <p:grpSpPr bwMode="auto">
          <a:xfrm>
            <a:off x="0" y="6153150"/>
            <a:ext cx="12192000" cy="704850"/>
            <a:chOff x="0" y="6152750"/>
            <a:chExt cx="12192000" cy="705250"/>
          </a:xfrm>
        </p:grpSpPr>
        <p:sp>
          <p:nvSpPr>
            <p:cNvPr id="3" name="Google Shape;21;p3">
              <a:extLst>
                <a:ext uri="{FF2B5EF4-FFF2-40B4-BE49-F238E27FC236}">
                  <a16:creationId xmlns:a16="http://schemas.microsoft.com/office/drawing/2014/main" id="{D01CB977-15F3-3B12-AB52-33645E8D3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152750"/>
              <a:ext cx="12192000" cy="705250"/>
            </a:xfrm>
            <a:prstGeom prst="rect">
              <a:avLst/>
            </a:prstGeom>
            <a:solidFill>
              <a:srgbClr val="1D7BD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 sz="1800">
                <a:solidFill>
                  <a:srgbClr val="FFFFFF"/>
                </a:solidFill>
                <a:latin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4" name="Google Shape;22;p3">
              <a:extLst>
                <a:ext uri="{FF2B5EF4-FFF2-40B4-BE49-F238E27FC236}">
                  <a16:creationId xmlns:a16="http://schemas.microsoft.com/office/drawing/2014/main" id="{C1466A94-B7EE-ED1A-3E30-E94147CDC8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200" y="6311590"/>
              <a:ext cx="3600450" cy="370098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en-US" altLang="en-US" sz="1800" b="1">
                  <a:solidFill>
                    <a:srgbClr val="FFFFFF"/>
                  </a:solidFill>
                  <a:latin typeface="Calibri" panose="020F0502020204030204" pitchFamily="34" charset="0"/>
                  <a:sym typeface="Calibri" panose="020F0502020204030204" pitchFamily="34" charset="0"/>
                </a:rPr>
                <a:t>OWASP FOUNDATION</a:t>
              </a:r>
              <a:endParaRPr lang="en-US" altLang="en-US"/>
            </a:p>
          </p:txBody>
        </p:sp>
      </p:grpSp>
      <p:sp>
        <p:nvSpPr>
          <p:cNvPr id="5" name="Google Shape;23;p3">
            <a:extLst>
              <a:ext uri="{FF2B5EF4-FFF2-40B4-BE49-F238E27FC236}">
                <a16:creationId xmlns:a16="http://schemas.microsoft.com/office/drawing/2014/main" id="{1D3E3D18-A575-EF47-254E-CDC9EC6768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0" y="6283325"/>
            <a:ext cx="11582400" cy="3683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>
                <a:solidFill>
                  <a:srgbClr val="FFFFFF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owasp.org</a:t>
            </a:r>
            <a:endParaRPr lang="en-US" altLang="en-US"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838200" y="21603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1" i="0"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838200" y="1801412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>
                <a:latin typeface="Barlow" panose="00000500000000000000" pitchFamily="2" charset="0"/>
                <a:cs typeface="Poppins Medium" panose="00000600000000000000" pitchFamily="2" charset="0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800">
                <a:latin typeface="Barlow" panose="00000500000000000000" pitchFamily="2" charset="0"/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" name="Google Shape;19;p3">
            <a:extLst>
              <a:ext uri="{FF2B5EF4-FFF2-40B4-BE49-F238E27FC236}">
                <a16:creationId xmlns:a16="http://schemas.microsoft.com/office/drawing/2014/main" id="{68CB4EFB-FCCC-EFB4-CEBF-C83543C014A0}"/>
              </a:ext>
            </a:extLst>
          </p:cNvPr>
          <p:cNvSpPr txBox="1"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9AD57E9-D884-4FC2-942B-CB26B8EC091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9095891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Callout">
  <p:cSld name="Title and Content with Callou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28;p4">
            <a:extLst>
              <a:ext uri="{FF2B5EF4-FFF2-40B4-BE49-F238E27FC236}">
                <a16:creationId xmlns:a16="http://schemas.microsoft.com/office/drawing/2014/main" id="{2600C997-FA89-7C33-CC98-06BFAF44A024}"/>
              </a:ext>
            </a:extLst>
          </p:cNvPr>
          <p:cNvGrpSpPr>
            <a:grpSpLocks/>
          </p:cNvGrpSpPr>
          <p:nvPr/>
        </p:nvGrpSpPr>
        <p:grpSpPr bwMode="auto">
          <a:xfrm>
            <a:off x="0" y="6153150"/>
            <a:ext cx="12192000" cy="704850"/>
            <a:chOff x="0" y="6152750"/>
            <a:chExt cx="12192000" cy="705250"/>
          </a:xfrm>
        </p:grpSpPr>
        <p:sp>
          <p:nvSpPr>
            <p:cNvPr id="3" name="Google Shape;29;p4">
              <a:extLst>
                <a:ext uri="{FF2B5EF4-FFF2-40B4-BE49-F238E27FC236}">
                  <a16:creationId xmlns:a16="http://schemas.microsoft.com/office/drawing/2014/main" id="{3582D2B0-1CC2-ED69-76D3-47B63BFCF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152750"/>
              <a:ext cx="12192000" cy="705250"/>
            </a:xfrm>
            <a:prstGeom prst="rect">
              <a:avLst/>
            </a:prstGeom>
            <a:solidFill>
              <a:srgbClr val="1D7BD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 sz="1800">
                <a:solidFill>
                  <a:srgbClr val="FFFFFF"/>
                </a:solidFill>
                <a:latin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4" name="Google Shape;30;p4">
              <a:extLst>
                <a:ext uri="{FF2B5EF4-FFF2-40B4-BE49-F238E27FC236}">
                  <a16:creationId xmlns:a16="http://schemas.microsoft.com/office/drawing/2014/main" id="{6FCDD4D3-E3C3-AD96-0B9F-F17DC8C660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200" y="6311590"/>
              <a:ext cx="3600450" cy="370098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en-US" altLang="en-US" sz="1800" b="1">
                  <a:solidFill>
                    <a:srgbClr val="FFFFFF"/>
                  </a:solidFill>
                  <a:latin typeface="Calibri" panose="020F0502020204030204" pitchFamily="34" charset="0"/>
                  <a:sym typeface="Calibri" panose="020F0502020204030204" pitchFamily="34" charset="0"/>
                </a:rPr>
                <a:t>OWASP FOUNDATION</a:t>
              </a:r>
              <a:endParaRPr lang="en-US" altLang="en-US"/>
            </a:p>
          </p:txBody>
        </p:sp>
      </p:grpSp>
      <p:sp>
        <p:nvSpPr>
          <p:cNvPr id="5" name="Google Shape;31;p4">
            <a:extLst>
              <a:ext uri="{FF2B5EF4-FFF2-40B4-BE49-F238E27FC236}">
                <a16:creationId xmlns:a16="http://schemas.microsoft.com/office/drawing/2014/main" id="{A3A2FBC2-F834-4442-BA2D-8019C44C2CAC}"/>
              </a:ext>
            </a:extLst>
          </p:cNvPr>
          <p:cNvSpPr txBox="1"/>
          <p:nvPr/>
        </p:nvSpPr>
        <p:spPr>
          <a:xfrm>
            <a:off x="8358188" y="1919288"/>
            <a:ext cx="3284537" cy="3756025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/>
          <a:lstStyle/>
          <a:p>
            <a:pPr eaLnBrk="1" fontAlgn="auto" hangingPunct="1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1350" kern="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Open:</a:t>
            </a:r>
            <a:r>
              <a:rPr lang="en-US" sz="1350" ker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kern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Everything at OWASP is radically transparent from our finances to our code.</a:t>
            </a:r>
            <a:endParaRPr sz="1350" kern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eaLnBrk="1" fontAlgn="auto" hangingPunct="1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1350" kern="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Innovative</a:t>
            </a:r>
            <a:r>
              <a:rPr lang="en-US" sz="1350" ker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350" kern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We encourage and support innovation and experiments for solutions to software security challenges.</a:t>
            </a:r>
            <a:endParaRPr sz="1350" kern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eaLnBrk="1" fontAlgn="auto" hangingPunct="1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1350" kern="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Global</a:t>
            </a:r>
            <a:r>
              <a:rPr lang="en-US" sz="1350" ker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350" kern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Anyone around the world is encouraged to participate in the OWASP community.</a:t>
            </a:r>
            <a:endParaRPr sz="1350" kern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eaLnBrk="1" fontAlgn="auto" hangingPunct="1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1350" kern="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Integrity</a:t>
            </a:r>
            <a:r>
              <a:rPr lang="en-US" sz="1350" ker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350" kern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Our community is respectful, supportive, truthful, and vendor neutral</a:t>
            </a:r>
            <a:endParaRPr sz="1350" kern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eaLnBrk="1" fontAlgn="auto" hangingPunct="1"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2800" kern="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2800" kern="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32;p4">
            <a:extLst>
              <a:ext uri="{FF2B5EF4-FFF2-40B4-BE49-F238E27FC236}">
                <a16:creationId xmlns:a16="http://schemas.microsoft.com/office/drawing/2014/main" id="{CA2DB202-3AFE-6647-A878-E406548DFE27}"/>
              </a:ext>
            </a:extLst>
          </p:cNvPr>
          <p:cNvSpPr/>
          <p:nvPr/>
        </p:nvSpPr>
        <p:spPr>
          <a:xfrm>
            <a:off x="8001000" y="1919288"/>
            <a:ext cx="149225" cy="3676650"/>
          </a:xfrm>
          <a:prstGeom prst="snip2DiagRect">
            <a:avLst>
              <a:gd name="adj1" fmla="val 50000"/>
              <a:gd name="adj2" fmla="val 33663"/>
            </a:avLst>
          </a:prstGeom>
          <a:solidFill>
            <a:srgbClr val="BFBFBF"/>
          </a:solidFill>
          <a:ln>
            <a:noFill/>
          </a:ln>
        </p:spPr>
        <p:txBody>
          <a:bodyPr spcFirstLastPara="1" lIns="91425" tIns="45700" rIns="91425" bIns="457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1800" kern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3;p4">
            <a:extLst>
              <a:ext uri="{FF2B5EF4-FFF2-40B4-BE49-F238E27FC236}">
                <a16:creationId xmlns:a16="http://schemas.microsoft.com/office/drawing/2014/main" id="{C3558BB3-89D3-6566-8CB8-579BAE60B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0" y="6283325"/>
            <a:ext cx="11582400" cy="3683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>
                <a:solidFill>
                  <a:srgbClr val="FFFFFF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owasp.org</a:t>
            </a:r>
            <a:endParaRPr lang="en-US" altLang="en-US"/>
          </a:p>
        </p:txBody>
      </p: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838200" y="21603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 i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32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Google Shape;27;p4">
            <a:extLst>
              <a:ext uri="{FF2B5EF4-FFF2-40B4-BE49-F238E27FC236}">
                <a16:creationId xmlns:a16="http://schemas.microsoft.com/office/drawing/2014/main" id="{1BC190E0-741A-F018-C40F-1E8F262BC346}"/>
              </a:ext>
            </a:extLst>
          </p:cNvPr>
          <p:cNvSpPr txBox="1"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2EB264F1-14CC-4D2E-BD2A-4CE4437EB46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544917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35;p5">
            <a:extLst>
              <a:ext uri="{FF2B5EF4-FFF2-40B4-BE49-F238E27FC236}">
                <a16:creationId xmlns:a16="http://schemas.microsoft.com/office/drawing/2014/main" id="{30AB7294-D1B6-4DE7-F5EA-B15685265D54}"/>
              </a:ext>
            </a:extLst>
          </p:cNvPr>
          <p:cNvGrpSpPr>
            <a:grpSpLocks/>
          </p:cNvGrpSpPr>
          <p:nvPr/>
        </p:nvGrpSpPr>
        <p:grpSpPr bwMode="auto">
          <a:xfrm>
            <a:off x="0" y="6153150"/>
            <a:ext cx="12192000" cy="704850"/>
            <a:chOff x="0" y="6152750"/>
            <a:chExt cx="12192000" cy="705250"/>
          </a:xfrm>
        </p:grpSpPr>
        <p:sp>
          <p:nvSpPr>
            <p:cNvPr id="3" name="Google Shape;36;p5">
              <a:extLst>
                <a:ext uri="{FF2B5EF4-FFF2-40B4-BE49-F238E27FC236}">
                  <a16:creationId xmlns:a16="http://schemas.microsoft.com/office/drawing/2014/main" id="{5E98D6CF-074F-7F2B-6D3A-EFB825C3DF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152750"/>
              <a:ext cx="12192000" cy="705250"/>
            </a:xfrm>
            <a:prstGeom prst="rect">
              <a:avLst/>
            </a:prstGeom>
            <a:solidFill>
              <a:srgbClr val="1D7BD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 sz="1800">
                <a:solidFill>
                  <a:srgbClr val="FFFFFF"/>
                </a:solidFill>
                <a:latin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4" name="Google Shape;37;p5">
              <a:extLst>
                <a:ext uri="{FF2B5EF4-FFF2-40B4-BE49-F238E27FC236}">
                  <a16:creationId xmlns:a16="http://schemas.microsoft.com/office/drawing/2014/main" id="{97BC5D43-0891-13DB-C0A6-BE02283991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200" y="6311590"/>
              <a:ext cx="3600450" cy="370098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en-US" altLang="en-US" sz="1800" b="1">
                  <a:solidFill>
                    <a:srgbClr val="FFFFFF"/>
                  </a:solidFill>
                  <a:latin typeface="Calibri" panose="020F0502020204030204" pitchFamily="34" charset="0"/>
                  <a:sym typeface="Calibri" panose="020F0502020204030204" pitchFamily="34" charset="0"/>
                </a:rPr>
                <a:t>OWASP FOUNDATION</a:t>
              </a:r>
              <a:endParaRPr lang="en-US" altLang="en-US"/>
            </a:p>
          </p:txBody>
        </p:sp>
      </p:grpSp>
      <p:sp>
        <p:nvSpPr>
          <p:cNvPr id="5" name="Google Shape;42;p5">
            <a:extLst>
              <a:ext uri="{FF2B5EF4-FFF2-40B4-BE49-F238E27FC236}">
                <a16:creationId xmlns:a16="http://schemas.microsoft.com/office/drawing/2014/main" id="{6447A3EE-3657-3695-0347-1C70C4C262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0" y="6283325"/>
            <a:ext cx="11582400" cy="3683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>
                <a:solidFill>
                  <a:srgbClr val="FFFFFF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owasp.org</a:t>
            </a:r>
            <a:endParaRPr lang="en-US" altLang="en-US"/>
          </a:p>
        </p:txBody>
      </p:sp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838200" y="21603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Google Shape;41;p5">
            <a:extLst>
              <a:ext uri="{FF2B5EF4-FFF2-40B4-BE49-F238E27FC236}">
                <a16:creationId xmlns:a16="http://schemas.microsoft.com/office/drawing/2014/main" id="{133AB98F-73D9-98DD-ADC4-05829E55DAC6}"/>
              </a:ext>
            </a:extLst>
          </p:cNvPr>
          <p:cNvSpPr txBox="1"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D0A7C237-55EF-4432-B3E5-5C9A0235C76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5916900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44;p6">
            <a:extLst>
              <a:ext uri="{FF2B5EF4-FFF2-40B4-BE49-F238E27FC236}">
                <a16:creationId xmlns:a16="http://schemas.microsoft.com/office/drawing/2014/main" id="{993C4972-16A8-EC23-6594-C66C1FD75733}"/>
              </a:ext>
            </a:extLst>
          </p:cNvPr>
          <p:cNvGrpSpPr>
            <a:grpSpLocks/>
          </p:cNvGrpSpPr>
          <p:nvPr/>
        </p:nvGrpSpPr>
        <p:grpSpPr bwMode="auto">
          <a:xfrm>
            <a:off x="0" y="6153150"/>
            <a:ext cx="12192000" cy="704850"/>
            <a:chOff x="0" y="6152750"/>
            <a:chExt cx="12192000" cy="705250"/>
          </a:xfrm>
        </p:grpSpPr>
        <p:sp>
          <p:nvSpPr>
            <p:cNvPr id="3" name="Google Shape;45;p6">
              <a:extLst>
                <a:ext uri="{FF2B5EF4-FFF2-40B4-BE49-F238E27FC236}">
                  <a16:creationId xmlns:a16="http://schemas.microsoft.com/office/drawing/2014/main" id="{F6CB79FA-162E-4EDB-3BBF-DAEFC2DE48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152750"/>
              <a:ext cx="12192000" cy="705250"/>
            </a:xfrm>
            <a:prstGeom prst="rect">
              <a:avLst/>
            </a:prstGeom>
            <a:solidFill>
              <a:srgbClr val="1D7BD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 sz="1800">
                <a:solidFill>
                  <a:srgbClr val="FFFFFF"/>
                </a:solidFill>
                <a:latin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4" name="Google Shape;46;p6">
              <a:extLst>
                <a:ext uri="{FF2B5EF4-FFF2-40B4-BE49-F238E27FC236}">
                  <a16:creationId xmlns:a16="http://schemas.microsoft.com/office/drawing/2014/main" id="{1DB683B2-224F-B876-3811-6B90087EA0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200" y="6311590"/>
              <a:ext cx="3600450" cy="370098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en-US" altLang="en-US" sz="1800" b="1">
                  <a:solidFill>
                    <a:srgbClr val="FFFFFF"/>
                  </a:solidFill>
                  <a:latin typeface="Calibri" panose="020F0502020204030204" pitchFamily="34" charset="0"/>
                  <a:sym typeface="Calibri" panose="020F0502020204030204" pitchFamily="34" charset="0"/>
                </a:rPr>
                <a:t>OWASP FOUNDATION</a:t>
              </a:r>
              <a:endParaRPr lang="en-US" altLang="en-US"/>
            </a:p>
          </p:txBody>
        </p:sp>
      </p:grpSp>
      <p:sp>
        <p:nvSpPr>
          <p:cNvPr id="5" name="Google Shape;53;p6">
            <a:extLst>
              <a:ext uri="{FF2B5EF4-FFF2-40B4-BE49-F238E27FC236}">
                <a16:creationId xmlns:a16="http://schemas.microsoft.com/office/drawing/2014/main" id="{3449B433-7136-3F50-8179-6B6B889D0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0" y="6283325"/>
            <a:ext cx="11582400" cy="3683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>
                <a:solidFill>
                  <a:srgbClr val="FFFFFF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owasp.org</a:t>
            </a:r>
            <a:endParaRPr lang="en-US" altLang="en-US"/>
          </a:p>
        </p:txBody>
      </p:sp>
      <p:sp>
        <p:nvSpPr>
          <p:cNvPr id="47" name="Google Shape;4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D7BD7"/>
              </a:buClr>
              <a:buSzPts val="2400"/>
              <a:buNone/>
              <a:defRPr sz="2400" b="1">
                <a:solidFill>
                  <a:srgbClr val="1D7BD7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D7BD7"/>
              </a:buClr>
              <a:buSzPts val="2400"/>
              <a:buNone/>
              <a:defRPr sz="2400" b="1">
                <a:solidFill>
                  <a:srgbClr val="1D7BD7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Google Shape;5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Google Shape;52;p6">
            <a:extLst>
              <a:ext uri="{FF2B5EF4-FFF2-40B4-BE49-F238E27FC236}">
                <a16:creationId xmlns:a16="http://schemas.microsoft.com/office/drawing/2014/main" id="{36443257-B5E3-01C2-E1D4-8FB2C660FAC7}"/>
              </a:ext>
            </a:extLst>
          </p:cNvPr>
          <p:cNvSpPr txBox="1"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3F639D75-5309-4365-9E34-7FB93A74F1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4035073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55;p7">
            <a:extLst>
              <a:ext uri="{FF2B5EF4-FFF2-40B4-BE49-F238E27FC236}">
                <a16:creationId xmlns:a16="http://schemas.microsoft.com/office/drawing/2014/main" id="{B110894A-8B8A-C0E8-4617-83C7C8EE8C21}"/>
              </a:ext>
            </a:extLst>
          </p:cNvPr>
          <p:cNvGrpSpPr>
            <a:grpSpLocks/>
          </p:cNvGrpSpPr>
          <p:nvPr/>
        </p:nvGrpSpPr>
        <p:grpSpPr bwMode="auto">
          <a:xfrm>
            <a:off x="0" y="6153150"/>
            <a:ext cx="12192000" cy="704850"/>
            <a:chOff x="0" y="6152750"/>
            <a:chExt cx="12192000" cy="705250"/>
          </a:xfrm>
        </p:grpSpPr>
        <p:sp>
          <p:nvSpPr>
            <p:cNvPr id="3" name="Google Shape;56;p7">
              <a:extLst>
                <a:ext uri="{FF2B5EF4-FFF2-40B4-BE49-F238E27FC236}">
                  <a16:creationId xmlns:a16="http://schemas.microsoft.com/office/drawing/2014/main" id="{A6177546-38D9-5BA9-CD7D-131555E5F3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152750"/>
              <a:ext cx="12192000" cy="705250"/>
            </a:xfrm>
            <a:prstGeom prst="rect">
              <a:avLst/>
            </a:prstGeom>
            <a:solidFill>
              <a:srgbClr val="1D7BD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 sz="1800">
                <a:solidFill>
                  <a:srgbClr val="FFFFFF"/>
                </a:solidFill>
                <a:latin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4" name="Google Shape;57;p7">
              <a:extLst>
                <a:ext uri="{FF2B5EF4-FFF2-40B4-BE49-F238E27FC236}">
                  <a16:creationId xmlns:a16="http://schemas.microsoft.com/office/drawing/2014/main" id="{AEC49E53-F371-AAD0-468C-64FE79B997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200" y="6311590"/>
              <a:ext cx="3600450" cy="370098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en-US" altLang="en-US" sz="1800" b="1">
                  <a:solidFill>
                    <a:srgbClr val="FFFFFF"/>
                  </a:solidFill>
                  <a:latin typeface="Calibri" panose="020F0502020204030204" pitchFamily="34" charset="0"/>
                  <a:sym typeface="Calibri" panose="020F0502020204030204" pitchFamily="34" charset="0"/>
                </a:rPr>
                <a:t>OWASP FOUNDATION</a:t>
              </a:r>
              <a:endParaRPr lang="en-US" altLang="en-US"/>
            </a:p>
          </p:txBody>
        </p:sp>
      </p:grpSp>
      <p:sp>
        <p:nvSpPr>
          <p:cNvPr id="5" name="Google Shape;60;p7">
            <a:extLst>
              <a:ext uri="{FF2B5EF4-FFF2-40B4-BE49-F238E27FC236}">
                <a16:creationId xmlns:a16="http://schemas.microsoft.com/office/drawing/2014/main" id="{8EC7A238-B650-2D8E-D484-122A935BA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0" y="6283325"/>
            <a:ext cx="11582400" cy="3683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>
                <a:solidFill>
                  <a:srgbClr val="FFFFFF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owasp.org</a:t>
            </a:r>
            <a:endParaRPr lang="en-US" altLang="en-US"/>
          </a:p>
        </p:txBody>
      </p:sp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838200" y="21603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" name="Google Shape;59;p7">
            <a:extLst>
              <a:ext uri="{FF2B5EF4-FFF2-40B4-BE49-F238E27FC236}">
                <a16:creationId xmlns:a16="http://schemas.microsoft.com/office/drawing/2014/main" id="{C72FB6F3-79A3-9BA7-4FFD-FF367A1986E7}"/>
              </a:ext>
            </a:extLst>
          </p:cNvPr>
          <p:cNvSpPr txBox="1">
            <a:spLocks noGrp="1" noChangeArrowheads="1"/>
          </p:cNvSpPr>
          <p:nvPr>
            <p:ph type="sldNum" idx="10"/>
          </p:nvPr>
        </p:nvSpPr>
        <p:spPr>
          <a:xfrm>
            <a:off x="8610600" y="6310313"/>
            <a:ext cx="2743200" cy="365125"/>
          </a:xfrm>
        </p:spPr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FA21DA1A-1D5B-45F5-9B1F-AF44EC531C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5185847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62;p8">
            <a:extLst>
              <a:ext uri="{FF2B5EF4-FFF2-40B4-BE49-F238E27FC236}">
                <a16:creationId xmlns:a16="http://schemas.microsoft.com/office/drawing/2014/main" id="{8E68F200-538C-70B8-7689-246960418BFA}"/>
              </a:ext>
            </a:extLst>
          </p:cNvPr>
          <p:cNvGrpSpPr>
            <a:grpSpLocks/>
          </p:cNvGrpSpPr>
          <p:nvPr/>
        </p:nvGrpSpPr>
        <p:grpSpPr bwMode="auto">
          <a:xfrm>
            <a:off x="0" y="6153150"/>
            <a:ext cx="12192000" cy="704850"/>
            <a:chOff x="0" y="6152750"/>
            <a:chExt cx="12192000" cy="705250"/>
          </a:xfrm>
        </p:grpSpPr>
        <p:sp>
          <p:nvSpPr>
            <p:cNvPr id="3" name="Google Shape;63;p8">
              <a:extLst>
                <a:ext uri="{FF2B5EF4-FFF2-40B4-BE49-F238E27FC236}">
                  <a16:creationId xmlns:a16="http://schemas.microsoft.com/office/drawing/2014/main" id="{0F80EB85-0742-0CF7-363B-B4B2DEC6FE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152750"/>
              <a:ext cx="12192000" cy="705250"/>
            </a:xfrm>
            <a:prstGeom prst="rect">
              <a:avLst/>
            </a:prstGeom>
            <a:solidFill>
              <a:srgbClr val="1D7BD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 sz="1800">
                <a:solidFill>
                  <a:srgbClr val="FFFFFF"/>
                </a:solidFill>
                <a:latin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4" name="Google Shape;64;p8">
              <a:extLst>
                <a:ext uri="{FF2B5EF4-FFF2-40B4-BE49-F238E27FC236}">
                  <a16:creationId xmlns:a16="http://schemas.microsoft.com/office/drawing/2014/main" id="{79324AC5-662B-DB36-FEA9-4393715249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200" y="6311590"/>
              <a:ext cx="3600450" cy="370098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en-US" altLang="en-US" sz="1800" b="1">
                  <a:solidFill>
                    <a:srgbClr val="FFFFFF"/>
                  </a:solidFill>
                  <a:latin typeface="Calibri" panose="020F0502020204030204" pitchFamily="34" charset="0"/>
                  <a:sym typeface="Calibri" panose="020F0502020204030204" pitchFamily="34" charset="0"/>
                </a:rPr>
                <a:t>OWASP FOUNDATION</a:t>
              </a:r>
              <a:endParaRPr lang="en-US" altLang="en-US"/>
            </a:p>
          </p:txBody>
        </p:sp>
      </p:grpSp>
      <p:sp>
        <p:nvSpPr>
          <p:cNvPr id="5" name="Google Shape;66;p8">
            <a:extLst>
              <a:ext uri="{FF2B5EF4-FFF2-40B4-BE49-F238E27FC236}">
                <a16:creationId xmlns:a16="http://schemas.microsoft.com/office/drawing/2014/main" id="{42D5F806-4B7E-F562-1B3D-6767B2F52D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0" y="6283325"/>
            <a:ext cx="11582400" cy="3683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>
                <a:solidFill>
                  <a:srgbClr val="FFFFFF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owasp.org</a:t>
            </a:r>
            <a:endParaRPr lang="en-US" altLang="en-US"/>
          </a:p>
        </p:txBody>
      </p:sp>
      <p:sp>
        <p:nvSpPr>
          <p:cNvPr id="6" name="Google Shape;65;p8">
            <a:extLst>
              <a:ext uri="{FF2B5EF4-FFF2-40B4-BE49-F238E27FC236}">
                <a16:creationId xmlns:a16="http://schemas.microsoft.com/office/drawing/2014/main" id="{A1338988-33FC-5718-CA72-1C78CA096468}"/>
              </a:ext>
            </a:extLst>
          </p:cNvPr>
          <p:cNvSpPr txBox="1"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45B470C3-C47B-424F-B76D-67A1A3DC8B8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6539284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8;p9">
            <a:extLst>
              <a:ext uri="{FF2B5EF4-FFF2-40B4-BE49-F238E27FC236}">
                <a16:creationId xmlns:a16="http://schemas.microsoft.com/office/drawing/2014/main" id="{CB6FB3E2-65AC-6837-F1BA-8CB6A28F6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1D7BD7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 sz="1800">
              <a:solidFill>
                <a:srgbClr val="FFFFFF"/>
              </a:solidFill>
              <a:latin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3" name="Google Shape;69;p9">
            <a:extLst>
              <a:ext uri="{FF2B5EF4-FFF2-40B4-BE49-F238E27FC236}">
                <a16:creationId xmlns:a16="http://schemas.microsoft.com/office/drawing/2014/main" id="{CFAD6392-F1BC-4E33-F884-F66C0C33FD9F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5663" y="2212975"/>
            <a:ext cx="7940675" cy="243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Google Shape;70;p9">
            <a:extLst>
              <a:ext uri="{FF2B5EF4-FFF2-40B4-BE49-F238E27FC236}">
                <a16:creationId xmlns:a16="http://schemas.microsoft.com/office/drawing/2014/main" id="{44F4EF25-E42A-D7F4-E271-D30233354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6613" y="3819525"/>
            <a:ext cx="822325" cy="65881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FFFFFF"/>
              </a:buClr>
              <a:buSzPts val="1800"/>
              <a:buFont typeface="Calibri" panose="020F0502020204030204" pitchFamily="34" charset="0"/>
              <a:buNone/>
              <a:defRPr/>
            </a:pPr>
            <a:r>
              <a:rPr lang="en-US" altLang="en-US" sz="1800">
                <a:solidFill>
                  <a:srgbClr val="FFFFFF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TM</a:t>
            </a:r>
          </a:p>
        </p:txBody>
      </p:sp>
    </p:spTree>
    <p:extLst>
      <p:ext uri="{BB962C8B-B14F-4D97-AF65-F5344CB8AC3E}">
        <p14:creationId xmlns:p14="http://schemas.microsoft.com/office/powerpoint/2010/main" val="2062177373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72;p10">
            <a:extLst>
              <a:ext uri="{FF2B5EF4-FFF2-40B4-BE49-F238E27FC236}">
                <a16:creationId xmlns:a16="http://schemas.microsoft.com/office/drawing/2014/main" id="{2211FF3A-AB65-1A1A-E68E-538C1A1FC1B2}"/>
              </a:ext>
            </a:extLst>
          </p:cNvPr>
          <p:cNvGrpSpPr>
            <a:grpSpLocks/>
          </p:cNvGrpSpPr>
          <p:nvPr/>
        </p:nvGrpSpPr>
        <p:grpSpPr bwMode="auto">
          <a:xfrm>
            <a:off x="0" y="6153150"/>
            <a:ext cx="12192000" cy="704850"/>
            <a:chOff x="0" y="6152750"/>
            <a:chExt cx="12192000" cy="705250"/>
          </a:xfrm>
        </p:grpSpPr>
        <p:sp>
          <p:nvSpPr>
            <p:cNvPr id="3" name="Google Shape;73;p10">
              <a:extLst>
                <a:ext uri="{FF2B5EF4-FFF2-40B4-BE49-F238E27FC236}">
                  <a16:creationId xmlns:a16="http://schemas.microsoft.com/office/drawing/2014/main" id="{93DE04DF-B015-0C1E-01AB-35365BD66C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152750"/>
              <a:ext cx="12192000" cy="705250"/>
            </a:xfrm>
            <a:prstGeom prst="rect">
              <a:avLst/>
            </a:prstGeom>
            <a:solidFill>
              <a:srgbClr val="1D7BD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 sz="1800">
                <a:solidFill>
                  <a:srgbClr val="FFFFFF"/>
                </a:solidFill>
                <a:latin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4" name="Google Shape;74;p10">
              <a:extLst>
                <a:ext uri="{FF2B5EF4-FFF2-40B4-BE49-F238E27FC236}">
                  <a16:creationId xmlns:a16="http://schemas.microsoft.com/office/drawing/2014/main" id="{1C5CB0E1-F1BA-EFF6-CDAE-06216D9348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200" y="6311590"/>
              <a:ext cx="3600450" cy="370098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en-US" altLang="en-US" sz="1800" b="1">
                  <a:solidFill>
                    <a:srgbClr val="FFFFFF"/>
                  </a:solidFill>
                  <a:latin typeface="Calibri" panose="020F0502020204030204" pitchFamily="34" charset="0"/>
                  <a:sym typeface="Calibri" panose="020F0502020204030204" pitchFamily="34" charset="0"/>
                </a:rPr>
                <a:t>OWASP FOUNDATION</a:t>
              </a:r>
              <a:endParaRPr lang="en-US" altLang="en-US"/>
            </a:p>
          </p:txBody>
        </p:sp>
      </p:grpSp>
      <p:sp>
        <p:nvSpPr>
          <p:cNvPr id="5" name="Google Shape;79;p10">
            <a:extLst>
              <a:ext uri="{FF2B5EF4-FFF2-40B4-BE49-F238E27FC236}">
                <a16:creationId xmlns:a16="http://schemas.microsoft.com/office/drawing/2014/main" id="{4A44F2B9-3B1C-3EE5-7466-0F38606A96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0" y="6283325"/>
            <a:ext cx="11582400" cy="3683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>
                <a:solidFill>
                  <a:srgbClr val="FFFFFF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owasp.org</a:t>
            </a:r>
            <a:endParaRPr lang="en-US" altLang="en-US"/>
          </a:p>
        </p:txBody>
      </p:sp>
      <p:sp>
        <p:nvSpPr>
          <p:cNvPr id="75" name="Google Shape;75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76" name="Google Shape;76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en-US" noProof="0">
                <a:sym typeface="Calibri"/>
              </a:rPr>
              <a:t>Click icon to add picture</a:t>
            </a:r>
            <a:endParaRPr noProof="0">
              <a:sym typeface="Calibri"/>
            </a:endParaRPr>
          </a:p>
        </p:txBody>
      </p:sp>
      <p:sp>
        <p:nvSpPr>
          <p:cNvPr id="77" name="Google Shape;77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Google Shape;78;p10">
            <a:extLst>
              <a:ext uri="{FF2B5EF4-FFF2-40B4-BE49-F238E27FC236}">
                <a16:creationId xmlns:a16="http://schemas.microsoft.com/office/drawing/2014/main" id="{F5FE7521-C0EF-2FEF-A32F-B570840B5695}"/>
              </a:ext>
            </a:extLst>
          </p:cNvPr>
          <p:cNvSpPr txBox="1"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5ED8063A-6CCA-4BA7-924B-A13849B86B3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1453719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6;p1">
            <a:extLst>
              <a:ext uri="{FF2B5EF4-FFF2-40B4-BE49-F238E27FC236}">
                <a16:creationId xmlns:a16="http://schemas.microsoft.com/office/drawing/2014/main" id="{30F52D99-1A44-636F-A79E-B8834FCA2AC3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838200" y="215900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1027" name="Google Shape;7;p1">
            <a:extLst>
              <a:ext uri="{FF2B5EF4-FFF2-40B4-BE49-F238E27FC236}">
                <a16:creationId xmlns:a16="http://schemas.microsoft.com/office/drawing/2014/main" id="{ABB94A03-2837-B098-C783-E27BC2056AA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 dirty="0">
              <a:sym typeface="Arial" panose="020B0604020202020204" pitchFamily="34" charset="0"/>
            </a:endParaRPr>
          </a:p>
        </p:txBody>
      </p:sp>
      <p:sp>
        <p:nvSpPr>
          <p:cNvPr id="1028" name="Google Shape;8;p1">
            <a:extLst>
              <a:ext uri="{FF2B5EF4-FFF2-40B4-BE49-F238E27FC236}">
                <a16:creationId xmlns:a16="http://schemas.microsoft.com/office/drawing/2014/main" id="{E7724339-1C4E-2C39-B263-3EDCE74F579D}"/>
              </a:ext>
            </a:extLst>
          </p:cNvPr>
          <p:cNvSpPr txBox="1">
            <a:spLocks noGrp="1" noChangeArrowheads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45700" rIns="91425" bIns="4570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000000"/>
              </a:buClr>
              <a:buFont typeface="Arial" panose="020B0604020202020204" pitchFamily="34" charset="0"/>
              <a:buNone/>
              <a:defRPr sz="1200" smtClean="0">
                <a:solidFill>
                  <a:srgbClr val="888888"/>
                </a:solidFill>
                <a:latin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pPr>
              <a:defRPr/>
            </a:pPr>
            <a:fld id="{137378F7-6BB3-44F6-86EE-AF02A7E1C4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</p:sldLayoutIdLst>
  <p:transition spd="med"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4400">
          <a:solidFill>
            <a:srgbClr val="000000"/>
          </a:solidFill>
          <a:latin typeface="Poppins Medium" panose="00000600000000000000" pitchFamily="2" charset="0"/>
          <a:ea typeface="Poppins Medium" panose="00000600000000000000" pitchFamily="2" charset="0"/>
          <a:cs typeface="Poppins Medium" panose="00000600000000000000" pitchFamily="2" charset="0"/>
          <a:sym typeface="Arial" panose="020B0604020202020204" pitchFamily="34" charset="0"/>
        </a:defRPr>
      </a:lvl1pPr>
      <a:lvl2pPr lvl="1" algn="l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4400">
          <a:solidFill>
            <a:srgbClr val="000000"/>
          </a:solidFill>
          <a:latin typeface="Poppins Medium" panose="00000600000000000000" pitchFamily="2" charset="0"/>
          <a:ea typeface="Poppins Medium" panose="00000600000000000000" pitchFamily="2" charset="0"/>
          <a:cs typeface="Poppins Medium" panose="00000600000000000000" pitchFamily="2" charset="0"/>
          <a:sym typeface="Arial" panose="020B0604020202020204" pitchFamily="34" charset="0"/>
        </a:defRPr>
      </a:lvl2pPr>
      <a:lvl3pPr lvl="2" algn="l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4400">
          <a:solidFill>
            <a:srgbClr val="000000"/>
          </a:solidFill>
          <a:latin typeface="Poppins Medium" panose="00000600000000000000" pitchFamily="2" charset="0"/>
          <a:ea typeface="Poppins Medium" panose="00000600000000000000" pitchFamily="2" charset="0"/>
          <a:cs typeface="Poppins Medium" panose="00000600000000000000" pitchFamily="2" charset="0"/>
          <a:sym typeface="Arial" panose="020B0604020202020204" pitchFamily="34" charset="0"/>
        </a:defRPr>
      </a:lvl3pPr>
      <a:lvl4pPr lvl="3" algn="l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4400">
          <a:solidFill>
            <a:srgbClr val="000000"/>
          </a:solidFill>
          <a:latin typeface="Poppins Medium" panose="00000600000000000000" pitchFamily="2" charset="0"/>
          <a:ea typeface="Poppins Medium" panose="00000600000000000000" pitchFamily="2" charset="0"/>
          <a:cs typeface="Poppins Medium" panose="00000600000000000000" pitchFamily="2" charset="0"/>
          <a:sym typeface="Arial" panose="020B0604020202020204" pitchFamily="34" charset="0"/>
        </a:defRPr>
      </a:lvl4pPr>
      <a:lvl5pPr lvl="4" algn="l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4400">
          <a:solidFill>
            <a:srgbClr val="000000"/>
          </a:solidFill>
          <a:latin typeface="Poppins Medium" panose="00000600000000000000" pitchFamily="2" charset="0"/>
          <a:ea typeface="Poppins Medium" panose="00000600000000000000" pitchFamily="2" charset="0"/>
          <a:cs typeface="Poppins Medium" panose="00000600000000000000" pitchFamily="2" charset="0"/>
          <a:sym typeface="Arial" panose="020B0604020202020204" pitchFamily="34" charset="0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2400">
          <a:solidFill>
            <a:srgbClr val="000000"/>
          </a:solidFill>
          <a:latin typeface="Barlow" panose="00000500000000000000" pitchFamily="2" charset="0"/>
          <a:ea typeface="Barlow" panose="00000500000000000000" pitchFamily="2" charset="0"/>
          <a:cs typeface="Poppins Medium" panose="00000600000000000000" pitchFamily="2" charset="0"/>
          <a:sym typeface="Arial" panose="020B0604020202020204" pitchFamily="34" charset="0"/>
        </a:defRPr>
      </a:lvl1pPr>
      <a:lvl2pPr lvl="1" algn="l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owasp.org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mailto:gionne.cannister@owasp.org" TargetMode="External"/><Relationship Id="rId2" Type="http://schemas.openxmlformats.org/officeDocument/2006/relationships/hyperlink" Target="mailto:david.rhoades@owasp.org" TargetMode="External"/><Relationship Id="rId1" Type="http://schemas.openxmlformats.org/officeDocument/2006/relationships/slideLayout" Target="../slideLayouts/slideLayout4.xml"/><Relationship Id="rId5" Type="http://schemas.openxmlformats.org/officeDocument/2006/relationships/hyperlink" Target="http://www.palindrometech.com/" TargetMode="External"/><Relationship Id="rId4" Type="http://schemas.openxmlformats.org/officeDocument/2006/relationships/hyperlink" Target="mailto:eric.truitte@owasp.org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endythesuperlibrarian.blogspot.com/2011/07/my-major-award.html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creativecommons.org/licenses/by-nc-nd/3.0/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swigger.net/web-security/learning-paths/llm-attack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mailto:david.rhoades@owasp.org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mailto:david.rhoades@owasp.org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Google Shape;84;p11">
            <a:extLst>
              <a:ext uri="{FF2B5EF4-FFF2-40B4-BE49-F238E27FC236}">
                <a16:creationId xmlns:a16="http://schemas.microsoft.com/office/drawing/2014/main" id="{0C69D384-1F3C-F497-CFF4-13DC3591D42A}"/>
              </a:ext>
            </a:extLst>
          </p:cNvPr>
          <p:cNvSpPr txBox="1">
            <a:spLocks noGrp="1" noChangeArrowheads="1"/>
          </p:cNvSpPr>
          <p:nvPr>
            <p:ph type="ctrTitle"/>
          </p:nvPr>
        </p:nvSpPr>
        <p:spPr>
          <a:xfrm>
            <a:off x="984250" y="788988"/>
            <a:ext cx="10223500" cy="2281237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Poppins Medium" panose="00000600000000000000" pitchFamily="2" charset="0"/>
              <a:buNone/>
            </a:pPr>
            <a:r>
              <a:rPr lang="en-US" altLang="en-US" b="1" dirty="0">
                <a:solidFill>
                  <a:schemeClr val="accent1"/>
                </a:solidFill>
                <a:latin typeface="Poppins" panose="00000500000000000000" pitchFamily="2" charset="0"/>
                <a:cs typeface="Arial" panose="020B0604020202020204" pitchFamily="34" charset="0"/>
                <a:sym typeface="Poppins" panose="00000500000000000000" pitchFamily="2" charset="0"/>
              </a:rPr>
              <a:t>OWASP Delaware: </a:t>
            </a:r>
            <a:br>
              <a:rPr lang="en-US" altLang="en-US" b="1" dirty="0">
                <a:solidFill>
                  <a:schemeClr val="accent1"/>
                </a:solidFill>
                <a:latin typeface="Poppins" panose="00000500000000000000" pitchFamily="2" charset="0"/>
                <a:cs typeface="Arial" panose="020B0604020202020204" pitchFamily="34" charset="0"/>
                <a:sym typeface="Poppins" panose="00000500000000000000" pitchFamily="2" charset="0"/>
              </a:rPr>
            </a:br>
            <a:r>
              <a:rPr lang="en-US" altLang="en-US" b="1" dirty="0">
                <a:solidFill>
                  <a:schemeClr val="accent1"/>
                </a:solidFill>
                <a:latin typeface="Poppins" panose="00000500000000000000" pitchFamily="2" charset="0"/>
                <a:cs typeface="Arial" panose="020B0604020202020204" pitchFamily="34" charset="0"/>
                <a:sym typeface="Poppins" panose="00000500000000000000" pitchFamily="2" charset="0"/>
              </a:rPr>
              <a:t>2025-06 Meeting</a:t>
            </a:r>
          </a:p>
        </p:txBody>
      </p:sp>
      <p:sp>
        <p:nvSpPr>
          <p:cNvPr id="12291" name="Google Shape;85;p11">
            <a:extLst>
              <a:ext uri="{FF2B5EF4-FFF2-40B4-BE49-F238E27FC236}">
                <a16:creationId xmlns:a16="http://schemas.microsoft.com/office/drawing/2014/main" id="{C17DE338-3587-DE5F-A2A8-A822E5E0A55F}"/>
              </a:ext>
            </a:extLst>
          </p:cNvPr>
          <p:cNvSpPr txBox="1">
            <a:spLocks noGrp="1" noChangeArrowheads="1"/>
          </p:cNvSpPr>
          <p:nvPr>
            <p:ph type="subTitle" idx="1"/>
          </p:nvPr>
        </p:nvSpPr>
        <p:spPr>
          <a:xfrm>
            <a:off x="984250" y="3429000"/>
            <a:ext cx="10223500" cy="1362075"/>
          </a:xfrm>
        </p:spPr>
        <p:txBody>
          <a:bodyPr/>
          <a:lstStyle/>
          <a:p>
            <a:pPr eaLnBrk="1" hangingPunct="1">
              <a:spcAft>
                <a:spcPct val="0"/>
              </a:spcAft>
              <a:buClr>
                <a:srgbClr val="000000"/>
              </a:buClr>
              <a:buFont typeface="Barlow" panose="00000500000000000000" pitchFamily="2" charset="0"/>
              <a:buNone/>
            </a:pPr>
            <a:r>
              <a:rPr lang="en-US" altLang="en-US" sz="2600" dirty="0">
                <a:latin typeface="Barlow" panose="00000500000000000000" pitchFamily="2" charset="0"/>
                <a:ea typeface="Barlow" panose="00000500000000000000" pitchFamily="2" charset="0"/>
                <a:cs typeface="Arial" panose="020B0604020202020204" pitchFamily="34" charset="0"/>
                <a:sym typeface="Barlow" panose="00000500000000000000" pitchFamily="2" charset="0"/>
              </a:rPr>
              <a:t>david.rhoades@owasp.org</a:t>
            </a:r>
          </a:p>
          <a:p>
            <a:pPr eaLnBrk="1" hangingPunct="1">
              <a:spcAft>
                <a:spcPct val="0"/>
              </a:spcAft>
              <a:buClr>
                <a:srgbClr val="000000"/>
              </a:buClr>
              <a:buFont typeface="Barlow" panose="00000500000000000000" pitchFamily="2" charset="0"/>
              <a:buNone/>
            </a:pPr>
            <a:r>
              <a:rPr lang="en-US" altLang="en-US" sz="2600" dirty="0">
                <a:latin typeface="Barlow" panose="00000500000000000000" pitchFamily="2" charset="0"/>
                <a:ea typeface="Barlow" panose="00000500000000000000" pitchFamily="2" charset="0"/>
                <a:cs typeface="Arial" panose="020B0604020202020204" pitchFamily="34" charset="0"/>
                <a:sym typeface="Barlow" panose="00000500000000000000" pitchFamily="2" charset="0"/>
              </a:rPr>
              <a:t>31-Mar-2026</a:t>
            </a:r>
          </a:p>
          <a:p>
            <a:pPr eaLnBrk="1" hangingPunct="1">
              <a:spcAft>
                <a:spcPct val="0"/>
              </a:spcAft>
              <a:buClr>
                <a:srgbClr val="000000"/>
              </a:buClr>
              <a:buFont typeface="Barlow" panose="00000500000000000000" pitchFamily="2" charset="0"/>
              <a:buNone/>
            </a:pPr>
            <a:endParaRPr lang="en-US" altLang="en-US" sz="2600" dirty="0">
              <a:latin typeface="Barlow" panose="00000500000000000000" pitchFamily="2" charset="0"/>
              <a:ea typeface="Barlow" panose="00000500000000000000" pitchFamily="2" charset="0"/>
              <a:cs typeface="Arial" panose="020B0604020202020204" pitchFamily="34" charset="0"/>
              <a:sym typeface="Barlow" panose="00000500000000000000" pitchFamily="2" charset="0"/>
            </a:endParaRPr>
          </a:p>
          <a:p>
            <a:pPr eaLnBrk="1" hangingPunct="1">
              <a:spcAft>
                <a:spcPct val="0"/>
              </a:spcAft>
              <a:buClr>
                <a:srgbClr val="000000"/>
              </a:buClr>
              <a:buFont typeface="Barlow" panose="00000500000000000000" pitchFamily="2" charset="0"/>
              <a:buNone/>
            </a:pPr>
            <a:endParaRPr lang="en-US" altLang="en-US" sz="2600" dirty="0">
              <a:latin typeface="Barlow" panose="00000500000000000000" pitchFamily="2" charset="0"/>
              <a:ea typeface="Barlow" panose="00000500000000000000" pitchFamily="2" charset="0"/>
              <a:cs typeface="Arial" panose="020B0604020202020204" pitchFamily="34" charset="0"/>
              <a:sym typeface="Barlow" panose="000005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Google Shape;90;p12">
            <a:extLst>
              <a:ext uri="{FF2B5EF4-FFF2-40B4-BE49-F238E27FC236}">
                <a16:creationId xmlns:a16="http://schemas.microsoft.com/office/drawing/2014/main" id="{CFC702CD-C274-7403-67F0-AF71FF1BB81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Aft>
                <a:spcPct val="0"/>
              </a:spcAft>
              <a:buClr>
                <a:srgbClr val="000000"/>
              </a:buClr>
              <a:buFont typeface="Barlow" panose="00000500000000000000" pitchFamily="2" charset="0"/>
              <a:buNone/>
            </a:pPr>
            <a:r>
              <a:rPr lang="en-US" altLang="en-US" sz="2800" b="1" dirty="0">
                <a:cs typeface="Arial" panose="020B0604020202020204" pitchFamily="34" charset="0"/>
                <a:sym typeface="Barlow" panose="00000500000000000000" pitchFamily="2" charset="0"/>
              </a:rPr>
              <a:t>OWASP</a:t>
            </a:r>
            <a:r>
              <a:rPr lang="en-US" altLang="en-US" sz="2800" dirty="0">
                <a:cs typeface="Arial" panose="020B0604020202020204" pitchFamily="34" charset="0"/>
                <a:sym typeface="Barlow" panose="00000500000000000000" pitchFamily="2" charset="0"/>
              </a:rPr>
              <a:t>: Who? What? Why?</a:t>
            </a:r>
          </a:p>
          <a:p>
            <a:pPr marL="0" indent="0" eaLnBrk="1" hangingPunct="1">
              <a:spcAft>
                <a:spcPct val="0"/>
              </a:spcAft>
              <a:buClr>
                <a:srgbClr val="000000"/>
              </a:buClr>
              <a:buFont typeface="Barlow" panose="00000500000000000000" pitchFamily="2" charset="0"/>
              <a:buNone/>
            </a:pPr>
            <a:endParaRPr lang="en-US" altLang="en-US" sz="2800" dirty="0">
              <a:cs typeface="Arial" panose="020B0604020202020204" pitchFamily="34" charset="0"/>
              <a:sym typeface="Barlow" panose="00000500000000000000" pitchFamily="2" charset="0"/>
            </a:endParaRPr>
          </a:p>
          <a:p>
            <a:pPr marL="0" indent="0" eaLnBrk="1" hangingPunct="1">
              <a:spcAft>
                <a:spcPct val="0"/>
              </a:spcAft>
              <a:buClr>
                <a:srgbClr val="000000"/>
              </a:buClr>
              <a:buFont typeface="Barlow" panose="00000500000000000000" pitchFamily="2" charset="0"/>
              <a:buNone/>
            </a:pPr>
            <a:r>
              <a:rPr lang="en-US" altLang="en-US" sz="2800" b="1" dirty="0">
                <a:cs typeface="Arial" panose="020B0604020202020204" pitchFamily="34" charset="0"/>
                <a:sym typeface="Barlow" panose="00000500000000000000" pitchFamily="2" charset="0"/>
              </a:rPr>
              <a:t>DE Chapter</a:t>
            </a:r>
            <a:r>
              <a:rPr lang="en-US" altLang="en-US" sz="2800" dirty="0">
                <a:cs typeface="Arial" panose="020B0604020202020204" pitchFamily="34" charset="0"/>
                <a:sym typeface="Barlow" panose="00000500000000000000" pitchFamily="2" charset="0"/>
              </a:rPr>
              <a:t>: Where? When? How? </a:t>
            </a:r>
            <a:r>
              <a:rPr lang="en-US" altLang="en-US" sz="2800" b="1" dirty="0">
                <a:cs typeface="Arial" panose="020B0604020202020204" pitchFamily="34" charset="0"/>
                <a:sym typeface="Barlow" panose="00000500000000000000" pitchFamily="2" charset="0"/>
              </a:rPr>
              <a:t>HELP!</a:t>
            </a:r>
          </a:p>
          <a:p>
            <a:pPr marL="0" indent="0" eaLnBrk="1" hangingPunct="1">
              <a:spcAft>
                <a:spcPct val="0"/>
              </a:spcAft>
              <a:buClr>
                <a:srgbClr val="000000"/>
              </a:buClr>
              <a:buFont typeface="Barlow" panose="00000500000000000000" pitchFamily="2" charset="0"/>
              <a:buNone/>
            </a:pPr>
            <a:endParaRPr lang="en-US" altLang="en-US" sz="2800" dirty="0">
              <a:cs typeface="Arial" panose="020B0604020202020204" pitchFamily="34" charset="0"/>
              <a:sym typeface="Barlow" panose="00000500000000000000" pitchFamily="2" charset="0"/>
            </a:endParaRPr>
          </a:p>
          <a:p>
            <a:pPr marL="0" indent="0">
              <a:spcAft>
                <a:spcPct val="0"/>
              </a:spcAft>
              <a:buClr>
                <a:srgbClr val="000000"/>
              </a:buClr>
              <a:buNone/>
            </a:pPr>
            <a:r>
              <a:rPr lang="en-US" altLang="en-US" sz="2800" b="1" dirty="0">
                <a:cs typeface="Arial" panose="020B0604020202020204" pitchFamily="34" charset="0"/>
                <a:sym typeface="Barlow" panose="00000500000000000000" pitchFamily="2" charset="0"/>
              </a:rPr>
              <a:t>Main Event: </a:t>
            </a:r>
          </a:p>
          <a:p>
            <a:pPr marL="0" indent="0">
              <a:spcAft>
                <a:spcPct val="0"/>
              </a:spcAft>
              <a:buClr>
                <a:srgbClr val="000000"/>
              </a:buClr>
              <a:buNone/>
            </a:pPr>
            <a:r>
              <a:rPr lang="en-US" sz="2800" u="sng" dirty="0"/>
              <a:t>Why APIs Are Every Attacker’s </a:t>
            </a:r>
            <a:br>
              <a:rPr lang="en-US" sz="2800" u="sng" dirty="0"/>
            </a:br>
            <a:r>
              <a:rPr lang="en-US" sz="2800" u="sng" dirty="0"/>
              <a:t>Favorite Target - by Dan Barahona</a:t>
            </a:r>
          </a:p>
          <a:p>
            <a:pPr marL="0" indent="0" eaLnBrk="1" hangingPunct="1">
              <a:spcAft>
                <a:spcPct val="0"/>
              </a:spcAft>
              <a:buClr>
                <a:srgbClr val="000000"/>
              </a:buClr>
              <a:buFont typeface="Barlow" panose="00000500000000000000" pitchFamily="2" charset="0"/>
              <a:buNone/>
            </a:pPr>
            <a:endParaRPr lang="en-US" altLang="en-US" sz="2800" dirty="0">
              <a:cs typeface="Arial" panose="020B0604020202020204" pitchFamily="34" charset="0"/>
              <a:sym typeface="Barlow" panose="00000500000000000000" pitchFamily="2" charset="0"/>
            </a:endParaRPr>
          </a:p>
          <a:p>
            <a:pPr marL="0" indent="0" eaLnBrk="1" hangingPunct="1">
              <a:spcAft>
                <a:spcPct val="0"/>
              </a:spcAft>
              <a:buClr>
                <a:srgbClr val="000000"/>
              </a:buClr>
              <a:buFont typeface="Barlow" panose="00000500000000000000" pitchFamily="2" charset="0"/>
              <a:buNone/>
            </a:pPr>
            <a:endParaRPr lang="en-US" altLang="en-US" sz="2800" dirty="0">
              <a:cs typeface="Arial" panose="020B0604020202020204" pitchFamily="34" charset="0"/>
              <a:sym typeface="Barlow" panose="00000500000000000000" pitchFamily="2" charset="0"/>
            </a:endParaRPr>
          </a:p>
        </p:txBody>
      </p:sp>
      <p:sp>
        <p:nvSpPr>
          <p:cNvPr id="14339" name="Google Shape;91;p12">
            <a:extLst>
              <a:ext uri="{FF2B5EF4-FFF2-40B4-BE49-F238E27FC236}">
                <a16:creationId xmlns:a16="http://schemas.microsoft.com/office/drawing/2014/main" id="{C88223A8-14F0-F566-CA34-797C4C90AEF4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838200" y="215900"/>
            <a:ext cx="10515600" cy="1325563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Calibri" panose="020F0502020204030204" pitchFamily="34" charset="0"/>
              <a:buNone/>
            </a:pPr>
            <a:r>
              <a:rPr lang="en-US" altLang="en-US">
                <a:cs typeface="Arial" panose="020B0604020202020204" pitchFamily="34" charset="0"/>
                <a:sym typeface="Poppins Medium" panose="00000600000000000000" pitchFamily="2" charset="0"/>
              </a:rP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4295-81F8-2C3A-AFAF-4F530ED49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Worldwide Application Security Project (OWASP)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4F3C9-CCE3-496A-6935-D54910DB9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indent="-457200"/>
            <a:r>
              <a:rPr lang="en-US" dirty="0"/>
              <a:t>The </a:t>
            </a:r>
            <a:r>
              <a:rPr lang="en-US" b="1" dirty="0"/>
              <a:t>Open Worldwide Application</a:t>
            </a:r>
            <a:r>
              <a:rPr lang="en-US" dirty="0"/>
              <a:t> </a:t>
            </a:r>
            <a:r>
              <a:rPr lang="en-US" b="1" dirty="0"/>
              <a:t>Security Project </a:t>
            </a:r>
            <a:r>
              <a:rPr lang="en-US" dirty="0"/>
              <a:t>(OWASP) is a nonprofit foundation that works to improve the security of software.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All of the OWASP tools, documents, forums, and chapters are </a:t>
            </a:r>
            <a:r>
              <a:rPr lang="en-US" b="1" dirty="0"/>
              <a:t>free and open to anyone </a:t>
            </a:r>
            <a:r>
              <a:rPr lang="en-US" dirty="0"/>
              <a:t>interested in improving application security.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 OWASP Foundation is a not-for-profit entity that ensures the project's long-term success.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www.owasp.org</a:t>
            </a:r>
            <a:endParaRPr lang="en-US" dirty="0"/>
          </a:p>
          <a:p>
            <a:pPr marL="0" indent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53931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F4529-C75F-5E53-D1BB-277AAA191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900"/>
            <a:ext cx="10515600" cy="1325563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OWASP Delaware Chapter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060C17-55E3-BEBA-BFB4-BE4B71C58794}"/>
              </a:ext>
            </a:extLst>
          </p:cNvPr>
          <p:cNvSpPr>
            <a:spLocks noGrp="1"/>
          </p:cNvSpPr>
          <p:nvPr>
            <p:ph type="body" idx="4294967295"/>
          </p:nvPr>
        </p:nvSpPr>
        <p:spPr bwMode="auto">
          <a:xfrm>
            <a:off x="838200" y="1731963"/>
            <a:ext cx="5067300" cy="4352544"/>
          </a:xfrm>
        </p:spPr>
        <p:txBody>
          <a:bodyPr anchor="t">
            <a:normAutofit/>
          </a:bodyPr>
          <a:lstStyle/>
          <a:p>
            <a:pPr eaLnBrk="0" hangingPunct="0">
              <a:spcAft>
                <a:spcPts val="600"/>
              </a:spcAft>
            </a:pPr>
            <a:r>
              <a:rPr lang="en-US" altLang="en-US" kern="1200" dirty="0"/>
              <a:t>All the chapter links: </a:t>
            </a:r>
            <a:r>
              <a:rPr lang="en-US" altLang="en-US" kern="1200" dirty="0">
                <a:solidFill>
                  <a:schemeClr val="accent5">
                    <a:lumMod val="75000"/>
                  </a:schemeClr>
                </a:solidFill>
              </a:rPr>
              <a:t>https://linktr.ee/owasp_delaware</a:t>
            </a:r>
          </a:p>
          <a:p>
            <a:pPr eaLnBrk="0" hangingPunct="0">
              <a:spcAft>
                <a:spcPts val="600"/>
              </a:spcAft>
            </a:pPr>
            <a:endParaRPr lang="en-US" altLang="en-US" kern="1200" dirty="0"/>
          </a:p>
          <a:p>
            <a:pPr eaLnBrk="0" hangingPunct="0">
              <a:spcAft>
                <a:spcPts val="600"/>
              </a:spcAft>
            </a:pPr>
            <a:endParaRPr lang="en-US" altLang="en-US" kern="1200" dirty="0"/>
          </a:p>
          <a:p>
            <a:pPr eaLnBrk="0" hangingPunct="0">
              <a:spcAft>
                <a:spcPts val="600"/>
              </a:spcAft>
            </a:pPr>
            <a:r>
              <a:rPr lang="en-US" altLang="en-US" kern="1200" dirty="0"/>
              <a:t>Meetup, X, Discord, www, LinkedIn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9863602-ABAC-81E4-DE66-3C3DAC530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30" r="-2" b="6273"/>
          <a:stretch>
            <a:fillRect/>
          </a:stretch>
        </p:blipFill>
        <p:spPr bwMode="auto">
          <a:xfrm>
            <a:off x="6286500" y="1731963"/>
            <a:ext cx="5067300" cy="4352544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wasp Logo Flat2 Icon">
            <a:extLst>
              <a:ext uri="{FF2B5EF4-FFF2-40B4-BE49-F238E27FC236}">
                <a16:creationId xmlns:a16="http://schemas.microsoft.com/office/drawing/2014/main" id="{E87706B9-6F58-490A-D06B-B4A900FD6F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0070" y="3268155"/>
            <a:ext cx="1280160" cy="128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5517461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50620-9FA3-4CEC-DF69-05117405C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OWASP Delaware Chapter Leads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E057FE-A2A4-3AD0-5F0D-B1BAE023E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Chapter leads:</a:t>
            </a:r>
          </a:p>
          <a:p>
            <a:r>
              <a:rPr lang="en-US" altLang="en-US" dirty="0">
                <a:hlinkClick r:id="rId2"/>
              </a:rPr>
              <a:t>david.rhoades@owasp.org</a:t>
            </a:r>
            <a:endParaRPr lang="en-US" altLang="en-US" dirty="0">
              <a:hlinkClick r:id="rId3"/>
            </a:endParaRPr>
          </a:p>
          <a:p>
            <a:endParaRPr lang="en-US" altLang="en-US" dirty="0"/>
          </a:p>
          <a:p>
            <a:r>
              <a:rPr lang="en-US" altLang="en-US" dirty="0"/>
              <a:t>Retiring chapter leads:</a:t>
            </a:r>
          </a:p>
          <a:p>
            <a:r>
              <a:rPr lang="en-US" altLang="en-US" dirty="0">
                <a:hlinkClick r:id="rId3"/>
              </a:rPr>
              <a:t>gionne.cannister@owasp.org</a:t>
            </a:r>
            <a:endParaRPr lang="en-US" altLang="en-US" dirty="0"/>
          </a:p>
          <a:p>
            <a:r>
              <a:rPr lang="en-US" altLang="en-US" dirty="0">
                <a:hlinkClick r:id="rId4"/>
              </a:rPr>
              <a:t>eric.truitte@owasp.org</a:t>
            </a:r>
            <a:r>
              <a:rPr lang="en-US" altLang="en-US" dirty="0"/>
              <a:t> </a:t>
            </a:r>
          </a:p>
          <a:p>
            <a:endParaRPr lang="en-US" dirty="0"/>
          </a:p>
          <a:p>
            <a:r>
              <a:rPr lang="en-US" dirty="0"/>
              <a:t>David &amp; Gionne work at Palindrome Technologies (</a:t>
            </a:r>
            <a:r>
              <a:rPr lang="en-US" dirty="0">
                <a:hlinkClick r:id="rId5"/>
              </a:rPr>
              <a:t>www.PalindromeTech.com</a:t>
            </a:r>
            <a:r>
              <a:rPr lang="en-US" dirty="0"/>
              <a:t>)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208DEF-C9DC-EF93-BE4B-84E347337F3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New/Pending chapter lead:</a:t>
            </a:r>
          </a:p>
          <a:p>
            <a:r>
              <a:rPr lang="en-US" b="1" dirty="0"/>
              <a:t>JackCornell#3793 </a:t>
            </a:r>
            <a:r>
              <a:rPr lang="en-US" dirty="0"/>
              <a:t>aka “Chuck” </a:t>
            </a:r>
          </a:p>
          <a:p>
            <a:endParaRPr lang="en-US" dirty="0"/>
          </a:p>
          <a:p>
            <a:r>
              <a:rPr lang="en-US" dirty="0"/>
              <a:t>A now a moment to remember our district’s fallen heroes…</a:t>
            </a:r>
          </a:p>
        </p:txBody>
      </p:sp>
    </p:spTree>
    <p:extLst>
      <p:ext uri="{BB962C8B-B14F-4D97-AF65-F5344CB8AC3E}">
        <p14:creationId xmlns:p14="http://schemas.microsoft.com/office/powerpoint/2010/main" val="1962974042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B7C4E-05A3-9FAC-8FBB-021A58A06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District’s Fallen Tributes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74EB6-18C8-8907-73D4-A21726C4CD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A44B1F-E457-0CE7-F320-5CBAAA36AC69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DF6258-6665-C10D-938E-271B89987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199" y="1825625"/>
            <a:ext cx="5201603" cy="34677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AE08EC-3886-6330-8C6B-490A3E063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498" y="1825625"/>
            <a:ext cx="5168056" cy="387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997092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9714A8-1E63-0E06-90AB-2CB2E2B73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900"/>
            <a:ext cx="10515600" cy="1325563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Delaware Chapter needs you.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206C4F-2458-841D-0ADD-3C391DD4BC09}"/>
              </a:ext>
            </a:extLst>
          </p:cNvPr>
          <p:cNvSpPr>
            <a:spLocks noGrp="1"/>
          </p:cNvSpPr>
          <p:nvPr>
            <p:ph type="body" idx="4294967295"/>
          </p:nvPr>
        </p:nvSpPr>
        <p:spPr bwMode="auto">
          <a:xfrm>
            <a:off x="838200" y="1731963"/>
            <a:ext cx="5067300" cy="4352544"/>
          </a:xfrm>
        </p:spPr>
        <p:txBody>
          <a:bodyPr anchor="t">
            <a:normAutofit/>
          </a:bodyPr>
          <a:lstStyle/>
          <a:p>
            <a:pPr eaLnBrk="0" hangingPunct="0">
              <a:spcAft>
                <a:spcPts val="600"/>
              </a:spcAft>
            </a:pPr>
            <a:r>
              <a:rPr lang="en-US" kern="1200"/>
              <a:t>Leadership – Do your part!</a:t>
            </a:r>
          </a:p>
          <a:p>
            <a:pPr lvl="1" eaLnBrk="0" hangingPunct="0">
              <a:spcAft>
                <a:spcPts val="600"/>
              </a:spcAft>
            </a:pPr>
            <a:r>
              <a:rPr lang="en-US" sz="2400" kern="1200"/>
              <a:t>Would you like to know more?</a:t>
            </a:r>
          </a:p>
          <a:p>
            <a:pPr eaLnBrk="0" hangingPunct="0">
              <a:spcAft>
                <a:spcPts val="600"/>
              </a:spcAft>
            </a:pPr>
            <a:endParaRPr lang="en-US" kern="1200"/>
          </a:p>
          <a:p>
            <a:pPr eaLnBrk="0" hangingPunct="0">
              <a:spcAft>
                <a:spcPts val="600"/>
              </a:spcAft>
            </a:pPr>
            <a:r>
              <a:rPr lang="en-US" kern="1200"/>
              <a:t>Need social media mavens</a:t>
            </a:r>
          </a:p>
          <a:p>
            <a:pPr lvl="1" eaLnBrk="0" hangingPunct="0">
              <a:spcAft>
                <a:spcPts val="600"/>
              </a:spcAft>
            </a:pPr>
            <a:r>
              <a:rPr lang="en-US" sz="2400" kern="1200"/>
              <a:t>Facebook, Twitter, Archie, Gopher…all dat</a:t>
            </a:r>
          </a:p>
          <a:p>
            <a:pPr lvl="1" eaLnBrk="0" hangingPunct="0">
              <a:spcAft>
                <a:spcPts val="600"/>
              </a:spcAft>
            </a:pPr>
            <a:r>
              <a:rPr lang="en-US" sz="2400" kern="1200"/>
              <a:t>Mention us @owaspde on Twitter</a:t>
            </a:r>
          </a:p>
          <a:p>
            <a:pPr eaLnBrk="0" hangingPunct="0">
              <a:spcAft>
                <a:spcPts val="600"/>
              </a:spcAft>
            </a:pPr>
            <a:r>
              <a:rPr lang="en-US" kern="1200"/>
              <a:t>Speakers!</a:t>
            </a:r>
          </a:p>
          <a:p>
            <a:pPr lvl="1" eaLnBrk="0" hangingPunct="0">
              <a:spcAft>
                <a:spcPts val="600"/>
              </a:spcAft>
            </a:pPr>
            <a:r>
              <a:rPr lang="en-US" sz="2400" kern="1200"/>
              <a:t>Flash talks; quick demos; anything cyber’ish</a:t>
            </a:r>
          </a:p>
        </p:txBody>
      </p:sp>
      <p:pic>
        <p:nvPicPr>
          <p:cNvPr id="10" name="Picture 9" descr="A group of people in military uniforms&#10;&#10;AI-generated content may be incorrect.">
            <a:extLst>
              <a:ext uri="{FF2B5EF4-FFF2-40B4-BE49-F238E27FC236}">
                <a16:creationId xmlns:a16="http://schemas.microsoft.com/office/drawing/2014/main" id="{125C5E4E-7622-D9C0-1035-7E6496F430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743" b="-1"/>
          <a:stretch>
            <a:fillRect/>
          </a:stretch>
        </p:blipFill>
        <p:spPr>
          <a:xfrm>
            <a:off x="6286500" y="1731963"/>
            <a:ext cx="5067300" cy="43525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10027941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C6343-21BE-DDB4-921A-751301356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Google Shape;84;p11">
            <a:extLst>
              <a:ext uri="{FF2B5EF4-FFF2-40B4-BE49-F238E27FC236}">
                <a16:creationId xmlns:a16="http://schemas.microsoft.com/office/drawing/2014/main" id="{01D90E35-A1AB-A99B-767D-BA31FAB33456}"/>
              </a:ext>
            </a:extLst>
          </p:cNvPr>
          <p:cNvSpPr txBox="1">
            <a:spLocks noGrp="1" noChangeArrowheads="1"/>
          </p:cNvSpPr>
          <p:nvPr>
            <p:ph type="ctrTitle"/>
          </p:nvPr>
        </p:nvSpPr>
        <p:spPr>
          <a:xfrm>
            <a:off x="984250" y="788988"/>
            <a:ext cx="10223500" cy="2281237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Poppins Medium" panose="00000600000000000000" pitchFamily="2" charset="0"/>
              <a:buNone/>
            </a:pPr>
            <a:r>
              <a:rPr lang="en-US" altLang="en-US" b="1" dirty="0">
                <a:solidFill>
                  <a:schemeClr val="accent1"/>
                </a:solidFill>
                <a:latin typeface="Poppins" panose="00000500000000000000" pitchFamily="2" charset="0"/>
                <a:cs typeface="Arial" panose="020B0604020202020204" pitchFamily="34" charset="0"/>
                <a:sym typeface="Poppins" panose="00000500000000000000" pitchFamily="2" charset="0"/>
              </a:rPr>
              <a:t>Main Event</a:t>
            </a:r>
          </a:p>
        </p:txBody>
      </p:sp>
      <p:sp>
        <p:nvSpPr>
          <p:cNvPr id="12291" name="Google Shape;85;p11">
            <a:extLst>
              <a:ext uri="{FF2B5EF4-FFF2-40B4-BE49-F238E27FC236}">
                <a16:creationId xmlns:a16="http://schemas.microsoft.com/office/drawing/2014/main" id="{6AB441C8-3C59-2F6B-4FE4-E84C8B617B20}"/>
              </a:ext>
            </a:extLst>
          </p:cNvPr>
          <p:cNvSpPr txBox="1">
            <a:spLocks noGrp="1" noChangeArrowheads="1"/>
          </p:cNvSpPr>
          <p:nvPr>
            <p:ph type="subTitle" idx="1"/>
          </p:nvPr>
        </p:nvSpPr>
        <p:spPr>
          <a:xfrm>
            <a:off x="984250" y="3429000"/>
            <a:ext cx="10223500" cy="1362075"/>
          </a:xfrm>
        </p:spPr>
        <p:txBody>
          <a:bodyPr/>
          <a:lstStyle/>
          <a:p>
            <a:pPr>
              <a:spcAft>
                <a:spcPct val="0"/>
              </a:spcAft>
              <a:buClr>
                <a:srgbClr val="000000"/>
              </a:buClr>
            </a:pPr>
            <a:r>
              <a:rPr lang="en-US" u="sng" dirty="0"/>
              <a:t>Why APIs Are Every Attacker’s Favorite Target - by Dan Barahona</a:t>
            </a:r>
            <a:endParaRPr lang="en-US" altLang="en-US" sz="2600" dirty="0">
              <a:latin typeface="Barlow" panose="00000500000000000000" pitchFamily="2" charset="0"/>
              <a:ea typeface="Barlow" panose="00000500000000000000" pitchFamily="2" charset="0"/>
              <a:cs typeface="Arial" panose="020B0604020202020204" pitchFamily="34" charset="0"/>
              <a:sym typeface="Barlow" panose="00000500000000000000" pitchFamily="2" charset="0"/>
            </a:endParaRPr>
          </a:p>
          <a:p>
            <a:pPr eaLnBrk="1" hangingPunct="1">
              <a:spcAft>
                <a:spcPct val="0"/>
              </a:spcAft>
              <a:buClr>
                <a:srgbClr val="000000"/>
              </a:buClr>
              <a:buFont typeface="Barlow" panose="00000500000000000000" pitchFamily="2" charset="0"/>
              <a:buNone/>
            </a:pPr>
            <a:endParaRPr lang="en-US" altLang="en-US" sz="2600" dirty="0">
              <a:latin typeface="Barlow" panose="00000500000000000000" pitchFamily="2" charset="0"/>
              <a:ea typeface="Barlow" panose="00000500000000000000" pitchFamily="2" charset="0"/>
              <a:cs typeface="Arial" panose="020B0604020202020204" pitchFamily="34" charset="0"/>
              <a:sym typeface="Barlow" panose="00000500000000000000" pitchFamily="2" charset="0"/>
            </a:endParaRPr>
          </a:p>
          <a:p>
            <a:pPr eaLnBrk="1" hangingPunct="1">
              <a:spcAft>
                <a:spcPct val="0"/>
              </a:spcAft>
              <a:buClr>
                <a:srgbClr val="000000"/>
              </a:buClr>
              <a:buFont typeface="Barlow" panose="00000500000000000000" pitchFamily="2" charset="0"/>
              <a:buNone/>
            </a:pPr>
            <a:endParaRPr lang="en-US" altLang="en-US" sz="2600" dirty="0">
              <a:latin typeface="Barlow" panose="00000500000000000000" pitchFamily="2" charset="0"/>
              <a:ea typeface="Barlow" panose="00000500000000000000" pitchFamily="2" charset="0"/>
              <a:cs typeface="Arial" panose="020B0604020202020204" pitchFamily="34" charset="0"/>
              <a:sym typeface="Barlow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9297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777D-ACC0-FF94-8811-6031D3A1C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900"/>
            <a:ext cx="10515600" cy="1325563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A gift for our guest speaker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5BACA-C510-5D4F-C7FA-8AC4B2C15513}"/>
              </a:ext>
            </a:extLst>
          </p:cNvPr>
          <p:cNvSpPr>
            <a:spLocks noGrp="1"/>
          </p:cNvSpPr>
          <p:nvPr>
            <p:ph type="body" idx="4294967295"/>
          </p:nvPr>
        </p:nvSpPr>
        <p:spPr bwMode="auto">
          <a:xfrm>
            <a:off x="838200" y="1731963"/>
            <a:ext cx="5067300" cy="4352544"/>
          </a:xfrm>
        </p:spPr>
        <p:txBody>
          <a:bodyPr anchor="t">
            <a:normAutofit/>
          </a:bodyPr>
          <a:lstStyle/>
          <a:p>
            <a:pPr eaLnBrk="0" hangingPunct="0">
              <a:spcAft>
                <a:spcPts val="600"/>
              </a:spcAft>
            </a:pPr>
            <a:r>
              <a:rPr lang="en-US" kern="1200" dirty="0"/>
              <a:t>It’s a major award!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7FD3AC-83D9-4F85-F358-A0CD2FA87B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8301" r="-2" b="5803"/>
          <a:stretch>
            <a:fillRect/>
          </a:stretch>
        </p:blipFill>
        <p:spPr>
          <a:xfrm>
            <a:off x="6286500" y="1731963"/>
            <a:ext cx="5067300" cy="435254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D257C2-0281-FC3A-8936-702E40EC4996}"/>
              </a:ext>
            </a:extLst>
          </p:cNvPr>
          <p:cNvSpPr txBox="1"/>
          <p:nvPr/>
        </p:nvSpPr>
        <p:spPr>
          <a:xfrm>
            <a:off x="8620359" y="5884452"/>
            <a:ext cx="2733441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latin typeface="+mn-lt"/>
                <a:cs typeface="+mn-cs"/>
                <a:hlinkClick r:id="rId3" tooltip="https://wendythesuperlibrarian.blogspot.com/2011/07/my-major-award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  <a:latin typeface="+mn-lt"/>
                <a:cs typeface="+mn-cs"/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latin typeface="+mn-lt"/>
                <a:cs typeface="+mn-cs"/>
                <a:hlinkClick r:id="rId4" tooltip="https://creativecommons.org/licenses/by-nc-nd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BY-NC-ND</a:t>
            </a:r>
            <a:endParaRPr lang="en-US" sz="700">
              <a:solidFill>
                <a:srgbClr val="FFFFFF"/>
              </a:solidFill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9864821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F02A7A-319C-0401-F872-CBB251FCA2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Time for mini-CTF?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B977849-CC71-DF59-C29E-F69097DE85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Let’s hack some AI</a:t>
            </a:r>
          </a:p>
        </p:txBody>
      </p:sp>
    </p:spTree>
    <p:extLst>
      <p:ext uri="{BB962C8B-B14F-4D97-AF65-F5344CB8AC3E}">
        <p14:creationId xmlns:p14="http://schemas.microsoft.com/office/powerpoint/2010/main" val="1890515756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Google Shape;96;p13">
            <a:extLst>
              <a:ext uri="{FF2B5EF4-FFF2-40B4-BE49-F238E27FC236}">
                <a16:creationId xmlns:a16="http://schemas.microsoft.com/office/drawing/2014/main" id="{9BC1DD2D-3424-AFB6-1D7A-5A248EC10B1B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838200" y="215900"/>
            <a:ext cx="10515600" cy="1325563"/>
          </a:xfrm>
        </p:spPr>
        <p:txBody>
          <a:bodyPr wrap="square" anchor="ctr">
            <a:normAutofit/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Calibri" panose="020F0502020204030204" pitchFamily="34" charset="0"/>
              <a:buNone/>
            </a:pPr>
            <a:r>
              <a:rPr lang="en-US" altLang="en-US" dirty="0"/>
              <a:t>Portswigger’s Web Academy</a:t>
            </a:r>
          </a:p>
        </p:txBody>
      </p:sp>
      <p:sp>
        <p:nvSpPr>
          <p:cNvPr id="16387" name="Google Shape;97;p13">
            <a:extLst>
              <a:ext uri="{FF2B5EF4-FFF2-40B4-BE49-F238E27FC236}">
                <a16:creationId xmlns:a16="http://schemas.microsoft.com/office/drawing/2014/main" id="{A429DA6B-864E-984E-293D-382291583F0B}"/>
              </a:ext>
            </a:extLst>
          </p:cNvPr>
          <p:cNvSpPr txBox="1">
            <a:spLocks noGrp="1" noChangeArrowheads="1"/>
          </p:cNvSpPr>
          <p:nvPr>
            <p:ph type="body" idx="4294967295"/>
          </p:nvPr>
        </p:nvSpPr>
        <p:spPr bwMode="auto">
          <a:xfrm>
            <a:off x="838200" y="1731963"/>
            <a:ext cx="5067300" cy="4352544"/>
          </a:xfrm>
        </p:spPr>
        <p:txBody>
          <a:bodyPr anchor="t">
            <a:normAutofit/>
          </a:bodyPr>
          <a:lstStyle/>
          <a:p>
            <a:pPr marL="0" indent="0" eaLnBrk="0" hangingPunct="0">
              <a:spcAft>
                <a:spcPts val="600"/>
              </a:spcAft>
              <a:buClr>
                <a:srgbClr val="000000"/>
              </a:buClr>
              <a:buFont typeface="Barlow" panose="00000500000000000000" pitchFamily="2" charset="0"/>
              <a:buNone/>
            </a:pPr>
            <a:r>
              <a:rPr lang="en-US" altLang="en-US" kern="1200" dirty="0"/>
              <a:t>Target: </a:t>
            </a:r>
            <a:r>
              <a:rPr lang="en-US" altLang="en-US" b="1" i="1" kern="1200" dirty="0"/>
              <a:t>Web Academy – Learning Path</a:t>
            </a:r>
            <a:r>
              <a:rPr lang="en-US" altLang="en-US" i="1" kern="1200" dirty="0"/>
              <a:t>: Web LLM attacks</a:t>
            </a:r>
          </a:p>
          <a:p>
            <a:pPr marL="0" indent="0" eaLnBrk="0" hangingPunct="0">
              <a:spcAft>
                <a:spcPts val="600"/>
              </a:spcAft>
              <a:buClr>
                <a:srgbClr val="000000"/>
              </a:buClr>
              <a:buFont typeface="Barlow" panose="00000500000000000000" pitchFamily="2" charset="0"/>
              <a:buNone/>
            </a:pPr>
            <a:endParaRPr lang="en-US" altLang="en-US" kern="1200" dirty="0"/>
          </a:p>
          <a:p>
            <a:pPr marL="0" indent="0" eaLnBrk="0" hangingPunct="0">
              <a:spcAft>
                <a:spcPts val="600"/>
              </a:spcAft>
              <a:buClr>
                <a:srgbClr val="000000"/>
              </a:buClr>
              <a:buNone/>
            </a:pPr>
            <a:r>
              <a:rPr lang="en-US" altLang="en-US" kern="12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https://portswigger.net/web-security/learning-paths/llm-attacks</a:t>
            </a:r>
            <a:r>
              <a:rPr lang="en-US" altLang="en-US" kern="1200" dirty="0"/>
              <a:t> </a:t>
            </a:r>
          </a:p>
          <a:p>
            <a:pPr marL="0" indent="0" eaLnBrk="0" hangingPunct="0">
              <a:spcAft>
                <a:spcPts val="600"/>
              </a:spcAft>
              <a:buClr>
                <a:srgbClr val="000000"/>
              </a:buClr>
              <a:buFont typeface="Barlow" panose="00000500000000000000" pitchFamily="2" charset="0"/>
              <a:buNone/>
            </a:pPr>
            <a:endParaRPr lang="en-US" altLang="en-US" kern="1200" dirty="0"/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A12CDEE-FABB-3990-D40B-6B4F555808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" b="5467"/>
          <a:stretch>
            <a:fillRect/>
          </a:stretch>
        </p:blipFill>
        <p:spPr>
          <a:xfrm>
            <a:off x="6286500" y="1731963"/>
            <a:ext cx="5067300" cy="4352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C077A-826C-F6B2-E85F-89951FE38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Google Shape;102;p14">
            <a:extLst>
              <a:ext uri="{FF2B5EF4-FFF2-40B4-BE49-F238E27FC236}">
                <a16:creationId xmlns:a16="http://schemas.microsoft.com/office/drawing/2014/main" id="{4BC48C8B-3C60-9535-4F8B-D9E6E9B0D4CE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838200" y="215900"/>
            <a:ext cx="10515600" cy="1325563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Calibri" panose="020F0502020204030204" pitchFamily="34" charset="0"/>
              <a:buNone/>
            </a:pPr>
            <a:r>
              <a:rPr lang="en-US" altLang="en-US">
                <a:cs typeface="Arial" panose="020B0604020202020204" pitchFamily="34" charset="0"/>
                <a:sym typeface="Poppins Medium" panose="00000600000000000000" pitchFamily="2" charset="0"/>
              </a:rPr>
              <a:t>Stay in the know</a:t>
            </a:r>
          </a:p>
        </p:txBody>
      </p:sp>
      <p:sp>
        <p:nvSpPr>
          <p:cNvPr id="18435" name="Google Shape;103;p14">
            <a:extLst>
              <a:ext uri="{FF2B5EF4-FFF2-40B4-BE49-F238E27FC236}">
                <a16:creationId xmlns:a16="http://schemas.microsoft.com/office/drawing/2014/main" id="{37FFD90F-642D-A1C3-8DFF-7CE9FD7C853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 eaLnBrk="1" hangingPunct="1"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  <a:defRPr/>
            </a:pPr>
            <a:endParaRPr lang="en-US" altLang="en-US" sz="2800" dirty="0">
              <a:cs typeface="Arial" panose="020B0604020202020204" pitchFamily="34" charset="0"/>
              <a:sym typeface="Barlow" panose="00000500000000000000" pitchFamily="2" charset="0"/>
            </a:endParaRPr>
          </a:p>
        </p:txBody>
      </p:sp>
      <p:sp>
        <p:nvSpPr>
          <p:cNvPr id="20484" name="Text Placeholder 1">
            <a:extLst>
              <a:ext uri="{FF2B5EF4-FFF2-40B4-BE49-F238E27FC236}">
                <a16:creationId xmlns:a16="http://schemas.microsoft.com/office/drawing/2014/main" id="{C47867C8-2A34-99B9-6A94-E18367EB8A86}"/>
              </a:ext>
            </a:extLst>
          </p:cNvPr>
          <p:cNvSpPr txBox="1">
            <a:spLocks noGrp="1" noChangeArrowheads="1"/>
          </p:cNvSpPr>
          <p:nvPr>
            <p:ph type="body" idx="2"/>
          </p:nvPr>
        </p:nvSpPr>
        <p:spPr/>
        <p:txBody>
          <a:bodyPr/>
          <a:lstStyle/>
          <a:p>
            <a:pPr eaLnBrk="1" hangingPunct="1">
              <a:spcAft>
                <a:spcPct val="0"/>
              </a:spcAft>
              <a:buClr>
                <a:srgbClr val="000000"/>
              </a:buClr>
            </a:pPr>
            <a:endParaRPr lang="en-US" altLang="en-US" dirty="0"/>
          </a:p>
          <a:p>
            <a:pPr eaLnBrk="1" hangingPunct="1">
              <a:spcAft>
                <a:spcPct val="0"/>
              </a:spcAft>
              <a:buClr>
                <a:srgbClr val="000000"/>
              </a:buClr>
            </a:pPr>
            <a:r>
              <a:rPr lang="en-US" altLang="en-US" dirty="0"/>
              <a:t>Chapter lead:</a:t>
            </a:r>
          </a:p>
          <a:p>
            <a:pPr eaLnBrk="1" hangingPunct="1">
              <a:spcAft>
                <a:spcPct val="0"/>
              </a:spcAft>
              <a:buClr>
                <a:srgbClr val="000000"/>
              </a:buClr>
            </a:pPr>
            <a:r>
              <a:rPr lang="en-US" altLang="en-US" dirty="0">
                <a:hlinkClick r:id="rId3"/>
              </a:rPr>
              <a:t>david.rhoades@owasp.org</a:t>
            </a:r>
            <a:endParaRPr lang="en-US" altLang="en-US" dirty="0"/>
          </a:p>
          <a:p>
            <a:pPr eaLnBrk="1" hangingPunct="1">
              <a:spcAft>
                <a:spcPct val="0"/>
              </a:spcAft>
              <a:buClr>
                <a:srgbClr val="000000"/>
              </a:buClr>
            </a:pPr>
            <a:r>
              <a:rPr lang="en-US" altLang="en-US" dirty="0"/>
              <a:t>More to come soon</a:t>
            </a:r>
          </a:p>
        </p:txBody>
      </p:sp>
    </p:spTree>
    <p:extLst>
      <p:ext uri="{BB962C8B-B14F-4D97-AF65-F5344CB8AC3E}">
        <p14:creationId xmlns:p14="http://schemas.microsoft.com/office/powerpoint/2010/main" val="3269965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BCAA8-B0B5-F80F-ECCF-C89229960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8572D-14E0-A766-3907-B9E91B001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900"/>
            <a:ext cx="10515600" cy="1325563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Stay in the know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01340F-84C2-231E-C80B-394F3E04CF8D}"/>
              </a:ext>
            </a:extLst>
          </p:cNvPr>
          <p:cNvSpPr>
            <a:spLocks noGrp="1"/>
          </p:cNvSpPr>
          <p:nvPr>
            <p:ph type="body" idx="4294967295"/>
          </p:nvPr>
        </p:nvSpPr>
        <p:spPr bwMode="auto">
          <a:xfrm>
            <a:off x="838200" y="1731963"/>
            <a:ext cx="5067300" cy="4352544"/>
          </a:xfrm>
        </p:spPr>
        <p:txBody>
          <a:bodyPr anchor="t">
            <a:normAutofit/>
          </a:bodyPr>
          <a:lstStyle/>
          <a:p>
            <a:r>
              <a:rPr lang="en-US" altLang="en-US" dirty="0"/>
              <a:t>Chapter lead:</a:t>
            </a:r>
          </a:p>
          <a:p>
            <a:r>
              <a:rPr lang="en-US" altLang="en-US" dirty="0">
                <a:hlinkClick r:id="rId2"/>
              </a:rPr>
              <a:t>david.rhoades@owasp.org</a:t>
            </a:r>
            <a:endParaRPr lang="en-US" altLang="en-US" dirty="0"/>
          </a:p>
          <a:p>
            <a:pPr eaLnBrk="0" hangingPunct="0">
              <a:spcAft>
                <a:spcPts val="600"/>
              </a:spcAft>
            </a:pPr>
            <a:endParaRPr lang="en-US" altLang="en-US" kern="1200" dirty="0"/>
          </a:p>
          <a:p>
            <a:pPr eaLnBrk="0" hangingPunct="0">
              <a:spcAft>
                <a:spcPts val="600"/>
              </a:spcAft>
            </a:pPr>
            <a:r>
              <a:rPr lang="en-US" altLang="en-US" kern="1200" dirty="0"/>
              <a:t>All the chapter links: </a:t>
            </a:r>
            <a:r>
              <a:rPr lang="en-US" altLang="en-US" kern="1200" dirty="0">
                <a:solidFill>
                  <a:schemeClr val="accent5">
                    <a:lumMod val="75000"/>
                  </a:schemeClr>
                </a:solidFill>
              </a:rPr>
              <a:t>https://linktr.ee/owasp_delaware</a:t>
            </a:r>
          </a:p>
          <a:p>
            <a:pPr marL="342900" indent="-342900" eaLnBrk="0" hangingPunct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kern="1200" dirty="0"/>
              <a:t>X and Discord are best.</a:t>
            </a:r>
          </a:p>
          <a:p>
            <a:pPr marL="342900" indent="-342900" eaLnBrk="0" hangingPunct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kern="1200" dirty="0"/>
              <a:t>Soon Meetup will be back up and running.</a:t>
            </a:r>
          </a:p>
          <a:p>
            <a:pPr marL="342900" indent="-342900" eaLnBrk="0" hangingPunct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kern="1200" dirty="0"/>
              <a:t>LinkedIn!!! </a:t>
            </a:r>
          </a:p>
          <a:p>
            <a:pPr marL="342900" lvl="1" indent="-342900" eaLnBrk="0" hangingPunct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kern="1200" dirty="0"/>
              <a:t>It’s where all the cool kids hang. </a:t>
            </a:r>
            <a:r>
              <a:rPr lang="en-US" altLang="en-US" kern="1200" dirty="0">
                <a:sym typeface="Wingdings" panose="05000000000000000000" pitchFamily="2" charset="2"/>
              </a:rPr>
              <a:t></a:t>
            </a:r>
            <a:endParaRPr lang="en-US" altLang="en-US" kern="12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66485DE-5F26-1725-024A-DB83B2CE8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30" r="-2" b="6273"/>
          <a:stretch>
            <a:fillRect/>
          </a:stretch>
        </p:blipFill>
        <p:spPr bwMode="auto">
          <a:xfrm>
            <a:off x="6286500" y="1731963"/>
            <a:ext cx="5067300" cy="4352544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wasp Logo Flat2 Icon">
            <a:extLst>
              <a:ext uri="{FF2B5EF4-FFF2-40B4-BE49-F238E27FC236}">
                <a16:creationId xmlns:a16="http://schemas.microsoft.com/office/drawing/2014/main" id="{CB5C5DEE-5D90-0D9C-05E0-E5285653F7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0070" y="3268155"/>
            <a:ext cx="1280160" cy="128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150392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WASP2023-slide-template.pot  -  Compatibility Mode" id="{90A06C18-06C3-4084-9294-B5CE792FCAD9}" vid="{5FDD07FF-4E8A-4F65-A6D3-685EFE270207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OWASP2023-slide-template</Template>
  <TotalTime>1182</TotalTime>
  <Words>463</Words>
  <Application>Microsoft Office PowerPoint</Application>
  <PresentationFormat>Widescreen</PresentationFormat>
  <Paragraphs>71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Poppins</vt:lpstr>
      <vt:lpstr>Wingdings</vt:lpstr>
      <vt:lpstr>Roboto</vt:lpstr>
      <vt:lpstr>Barlow</vt:lpstr>
      <vt:lpstr>Arial</vt:lpstr>
      <vt:lpstr>Calibri</vt:lpstr>
      <vt:lpstr>Poppins Medium</vt:lpstr>
      <vt:lpstr>Office Theme</vt:lpstr>
      <vt:lpstr>OWASP Delaware:  2025-06 Meeting</vt:lpstr>
      <vt:lpstr>Agenda</vt:lpstr>
      <vt:lpstr>Open Worldwide Application Security Project (OWASP)</vt:lpstr>
      <vt:lpstr>OWASP Delaware Chapter</vt:lpstr>
      <vt:lpstr>OWASP Delaware Chapter Leads</vt:lpstr>
      <vt:lpstr>Our District’s Fallen Tributes</vt:lpstr>
      <vt:lpstr>Delaware Chapter needs you.</vt:lpstr>
      <vt:lpstr>Main Event</vt:lpstr>
      <vt:lpstr>A gift for our guest speaker</vt:lpstr>
      <vt:lpstr>Time for mini-CTF?</vt:lpstr>
      <vt:lpstr>Portswigger’s Web Academy</vt:lpstr>
      <vt:lpstr>Stay in the know</vt:lpstr>
      <vt:lpstr>Stay in the know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OWASP Delaware 2024-02</dc:title>
  <dc:subject>Kick off for 2024</dc:subject>
  <dc:creator>David Rhoades</dc:creator>
  <cp:lastModifiedBy>David Rhoades</cp:lastModifiedBy>
  <cp:revision>12</cp:revision>
  <dcterms:created xsi:type="dcterms:W3CDTF">2024-02-27T03:36:52Z</dcterms:created>
  <dcterms:modified xsi:type="dcterms:W3CDTF">2026-03-31T20:37:20Z</dcterms:modified>
</cp:coreProperties>
</file>